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65"/>
  </p:notesMasterIdLst>
  <p:sldIdLst>
    <p:sldId id="256" r:id="rId2"/>
    <p:sldId id="321" r:id="rId3"/>
    <p:sldId id="320" r:id="rId4"/>
    <p:sldId id="325" r:id="rId5"/>
    <p:sldId id="323" r:id="rId6"/>
    <p:sldId id="264" r:id="rId7"/>
    <p:sldId id="265" r:id="rId8"/>
    <p:sldId id="276" r:id="rId9"/>
    <p:sldId id="266" r:id="rId10"/>
    <p:sldId id="268" r:id="rId11"/>
    <p:sldId id="278" r:id="rId12"/>
    <p:sldId id="326" r:id="rId13"/>
    <p:sldId id="322" r:id="rId14"/>
    <p:sldId id="267" r:id="rId15"/>
    <p:sldId id="279" r:id="rId16"/>
    <p:sldId id="280" r:id="rId17"/>
    <p:sldId id="269" r:id="rId18"/>
    <p:sldId id="281" r:id="rId19"/>
    <p:sldId id="282" r:id="rId20"/>
    <p:sldId id="324" r:id="rId21"/>
    <p:sldId id="270" r:id="rId22"/>
    <p:sldId id="271" r:id="rId23"/>
    <p:sldId id="284" r:id="rId24"/>
    <p:sldId id="272" r:id="rId25"/>
    <p:sldId id="285" r:id="rId26"/>
    <p:sldId id="283" r:id="rId27"/>
    <p:sldId id="274" r:id="rId28"/>
    <p:sldId id="286" r:id="rId29"/>
    <p:sldId id="287" r:id="rId30"/>
    <p:sldId id="277" r:id="rId31"/>
    <p:sldId id="273" r:id="rId32"/>
    <p:sldId id="288" r:id="rId33"/>
    <p:sldId id="275" r:id="rId34"/>
    <p:sldId id="289" r:id="rId35"/>
    <p:sldId id="290" r:id="rId36"/>
    <p:sldId id="291" r:id="rId37"/>
    <p:sldId id="292" r:id="rId38"/>
    <p:sldId id="293" r:id="rId39"/>
    <p:sldId id="294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5" r:id="rId48"/>
    <p:sldId id="304" r:id="rId49"/>
    <p:sldId id="303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9" r:id="rId60"/>
    <p:sldId id="315" r:id="rId61"/>
    <p:sldId id="316" r:id="rId62"/>
    <p:sldId id="317" r:id="rId63"/>
    <p:sldId id="318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94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3554-6B60-40FD-BC5F-5A8F6E94AD9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FF4D74-5A5F-4977-A4FE-823AAC8A1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390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F4D74-5A5F-4977-A4FE-823AAC8A14D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058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987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40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72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8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9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9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48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06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79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154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672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75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zephyrproject.org/latest/kernel/services/synchronization/mutexes.html" TargetMode="Externa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zephyrproject.org/latest/kernel/services/synchronization/mutexes.html" TargetMode="Externa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ocs.zephyrproject.org/latest/kernel/services/synchronization/mutexes.html" TargetMode="Externa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exagonal background with blue neon lights">
            <a:extLst>
              <a:ext uri="{FF2B5EF4-FFF2-40B4-BE49-F238E27FC236}">
                <a16:creationId xmlns:a16="http://schemas.microsoft.com/office/drawing/2014/main" id="{E3B9C28A-EE92-D1A8-25A1-ED2E9D74DC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1" y="0"/>
            <a:ext cx="12191979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1346E3A-8884-B7EC-B61C-7ACCB4924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24644" y="4201886"/>
            <a:ext cx="6760507" cy="2074441"/>
          </a:xfrm>
        </p:spPr>
        <p:txBody>
          <a:bodyPr anchor="b">
            <a:noAutofit/>
          </a:bodyPr>
          <a:lstStyle/>
          <a:p>
            <a:r>
              <a:rPr lang="en-US" sz="4400" b="1" i="0" dirty="0"/>
              <a:t>Concepts of Zephyr RTOS</a:t>
            </a:r>
            <a:endParaRPr lang="en-US" sz="4400" dirty="0"/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961897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7D14A-9775-26D5-7222-48EEED082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A58919-62CA-D92D-DA25-28DFD874328C}"/>
              </a:ext>
            </a:extLst>
          </p:cNvPr>
          <p:cNvSpPr txBox="1"/>
          <p:nvPr/>
        </p:nvSpPr>
        <p:spPr>
          <a:xfrm>
            <a:off x="174171" y="732728"/>
            <a:ext cx="6204858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1" dirty="0"/>
              <a:t>1. Kernel and Scheduling</a:t>
            </a:r>
          </a:p>
          <a:p>
            <a:r>
              <a:rPr lang="en-US" sz="1200" b="1" dirty="0"/>
              <a:t>Preemptive and Cooperative Scheduling:</a:t>
            </a:r>
            <a:r>
              <a:rPr lang="en-US" sz="1200" dirty="0"/>
              <a:t> Supports both models and allows mixing them within one system.</a:t>
            </a:r>
          </a:p>
          <a:p>
            <a:r>
              <a:rPr lang="en-US" sz="1200" b="1" dirty="0"/>
              <a:t>SMP Support:</a:t>
            </a:r>
            <a:r>
              <a:rPr lang="en-US" sz="1200" dirty="0"/>
              <a:t> True symmetric multiprocessing — threads can run on multiple CPU cores.</a:t>
            </a:r>
          </a:p>
          <a:p>
            <a:r>
              <a:rPr lang="en-US" sz="1200" b="1" dirty="0" err="1"/>
              <a:t>Tickless</a:t>
            </a:r>
            <a:r>
              <a:rPr lang="en-US" sz="1200" b="1" dirty="0"/>
              <a:t> Kernel:</a:t>
            </a:r>
            <a:r>
              <a:rPr lang="en-US" sz="1200" dirty="0"/>
              <a:t> Scheduler driven by events and timers rather than fixed ticks (reduces power).</a:t>
            </a:r>
          </a:p>
          <a:p>
            <a:r>
              <a:rPr lang="en-US" sz="1200" b="1" dirty="0"/>
              <a:t>Deterministic Latency:</a:t>
            </a:r>
            <a:r>
              <a:rPr lang="en-US" sz="1200" dirty="0"/>
              <a:t> Designed for hard real-time systems with predictable interrupt and scheduling times.</a:t>
            </a: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Canva Sans"/>
            </a:endParaRPr>
          </a:p>
          <a:p>
            <a:r>
              <a:rPr lang="en-IN" sz="1200" dirty="0"/>
              <a:t>2. </a:t>
            </a:r>
            <a:r>
              <a:rPr lang="en-IN" sz="1200" b="1" dirty="0"/>
              <a:t>Inter-Thread Communication (IPC)</a:t>
            </a:r>
          </a:p>
          <a:p>
            <a:r>
              <a:rPr lang="en-IN" sz="1200" dirty="0"/>
              <a:t>Zephyr offers a rich IPC framework, more advanced than many small </a:t>
            </a:r>
            <a:r>
              <a:rPr lang="en-IN" sz="1200" dirty="0" err="1"/>
              <a:t>RTOSes</a:t>
            </a:r>
            <a:r>
              <a:rPr lang="en-IN" sz="1200" dirty="0"/>
              <a:t>:</a:t>
            </a:r>
          </a:p>
          <a:p>
            <a:r>
              <a:rPr lang="en-IN" sz="1200" b="1" dirty="0"/>
              <a:t>FIFOs / LIFOs</a:t>
            </a:r>
            <a:r>
              <a:rPr lang="en-IN" sz="1200" dirty="0"/>
              <a:t>: Queue-like message passing for lightweight data exchange.</a:t>
            </a:r>
          </a:p>
          <a:p>
            <a:r>
              <a:rPr lang="en-IN" sz="1200" b="1" dirty="0"/>
              <a:t>Message Queues: </a:t>
            </a:r>
            <a:r>
              <a:rPr lang="en-IN" sz="1200" dirty="0"/>
              <a:t>Fixed-size message passing with blocking/non-blocking modes.</a:t>
            </a:r>
          </a:p>
          <a:p>
            <a:r>
              <a:rPr lang="en-IN" sz="1200" b="1" dirty="0"/>
              <a:t>Semaphores and Mutexes</a:t>
            </a:r>
            <a:r>
              <a:rPr lang="en-IN" sz="1200" dirty="0"/>
              <a:t>: Standard synchronization primitives.</a:t>
            </a:r>
          </a:p>
          <a:p>
            <a:r>
              <a:rPr lang="en-IN" sz="1200" b="1" dirty="0"/>
              <a:t>Signals: </a:t>
            </a:r>
            <a:r>
              <a:rPr lang="en-IN" sz="1200" dirty="0"/>
              <a:t>Lightweight inter-thread event notifications.</a:t>
            </a:r>
          </a:p>
          <a:p>
            <a:r>
              <a:rPr lang="en-IN" sz="1200" b="1" dirty="0"/>
              <a:t>Pipes: </a:t>
            </a:r>
            <a:r>
              <a:rPr lang="en-IN" sz="1200" dirty="0"/>
              <a:t>Stream-oriented communication (like POSIX pipes).</a:t>
            </a:r>
          </a:p>
          <a:p>
            <a:r>
              <a:rPr lang="en-IN" sz="1200" b="1" dirty="0"/>
              <a:t>Work Queues</a:t>
            </a:r>
            <a:r>
              <a:rPr lang="en-IN" sz="1200" dirty="0"/>
              <a:t>: Deferred execution of jobs outside ISR context.</a:t>
            </a: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Canva Sans"/>
            </a:endParaRPr>
          </a:p>
          <a:p>
            <a:r>
              <a:rPr lang="en-IN" sz="1200" b="1" dirty="0"/>
              <a:t>3. Memory Management (Extended Details)</a:t>
            </a:r>
          </a:p>
          <a:p>
            <a:r>
              <a:rPr lang="en-IN" sz="1200" dirty="0"/>
              <a:t>Beyond what you listed:</a:t>
            </a:r>
          </a:p>
          <a:p>
            <a:r>
              <a:rPr lang="en-IN" sz="1200" dirty="0"/>
              <a:t>Slab Allocators: For fixed-size objects, minimizing fragmentation.</a:t>
            </a:r>
          </a:p>
          <a:p>
            <a:r>
              <a:rPr lang="en-IN" sz="1200" dirty="0"/>
              <a:t>Heap Allocators: Dynamic allocation from configurable heap regions.</a:t>
            </a:r>
          </a:p>
          <a:p>
            <a:r>
              <a:rPr lang="en-IN" sz="1200" dirty="0"/>
              <a:t>Memory Domains &amp; Partitions: When using MPU/MMU, threads can be restricted to memory domains.</a:t>
            </a:r>
          </a:p>
          <a:p>
            <a:r>
              <a:rPr lang="en-IN" sz="1200" dirty="0"/>
              <a:t>Stack Randomization: Adds entropy to stack placement for security.</a:t>
            </a:r>
          </a:p>
          <a:p>
            <a:r>
              <a:rPr lang="en-IN" sz="1200" dirty="0"/>
              <a:t>User Mode Memory Protection: Distinguishes kernel vs user threads (safety and isolation).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43B1FB-93B5-4378-A949-770E0D431C86}"/>
              </a:ext>
            </a:extLst>
          </p:cNvPr>
          <p:cNvSpPr txBox="1"/>
          <p:nvPr/>
        </p:nvSpPr>
        <p:spPr>
          <a:xfrm>
            <a:off x="2046513" y="108915"/>
            <a:ext cx="9014777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Zephyr OS — Additional Core Architecture &amp; Features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8026F4-A318-3ADA-A790-DF1B1321FBD2}"/>
              </a:ext>
            </a:extLst>
          </p:cNvPr>
          <p:cNvSpPr txBox="1"/>
          <p:nvPr/>
        </p:nvSpPr>
        <p:spPr>
          <a:xfrm>
            <a:off x="6553200" y="732728"/>
            <a:ext cx="5464629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b="1" dirty="0"/>
              <a:t>4. Device Model (Deep Integration)</a:t>
            </a:r>
          </a:p>
          <a:p>
            <a:r>
              <a:rPr lang="en-IN" sz="1200" b="1" dirty="0"/>
              <a:t>Device Tree Integration</a:t>
            </a:r>
            <a:r>
              <a:rPr lang="en-IN" sz="1200" dirty="0"/>
              <a:t>: Hardware described via .</a:t>
            </a:r>
            <a:r>
              <a:rPr lang="en-IN" sz="1200" dirty="0" err="1"/>
              <a:t>dts</a:t>
            </a:r>
            <a:r>
              <a:rPr lang="en-IN" sz="1200" dirty="0"/>
              <a:t> files, parsed into C headers for compile-time configuration.</a:t>
            </a:r>
          </a:p>
          <a:p>
            <a:r>
              <a:rPr lang="en-IN" sz="1200" b="1" dirty="0"/>
              <a:t>Automatic Device Initialization</a:t>
            </a:r>
            <a:r>
              <a:rPr lang="en-IN" sz="1200" dirty="0"/>
              <a:t>: Devices registered via macros (DEVICE_DT_DEFINE) are initialized in dependency order.</a:t>
            </a:r>
          </a:p>
          <a:p>
            <a:r>
              <a:rPr lang="en-IN" sz="1200" b="1" dirty="0"/>
              <a:t>Power State Management: </a:t>
            </a:r>
            <a:r>
              <a:rPr lang="en-IN" sz="1200" dirty="0"/>
              <a:t>Devices can enter low-power states automatically via PM framework.</a:t>
            </a:r>
          </a:p>
          <a:p>
            <a:r>
              <a:rPr lang="en-IN" sz="1200" b="1" dirty="0"/>
              <a:t>Driver Categories: </a:t>
            </a:r>
            <a:r>
              <a:rPr lang="en-IN" sz="1200" dirty="0"/>
              <a:t>GPIO, I2C, SPI, UART, ADC, PWM, Sensor, CAN, BLE, Display, Flash, etc.</a:t>
            </a:r>
          </a:p>
          <a:p>
            <a:r>
              <a:rPr lang="en-IN" sz="1200" b="1" dirty="0"/>
              <a:t>Virtual Devices</a:t>
            </a:r>
            <a:r>
              <a:rPr lang="en-IN" sz="1200" dirty="0"/>
              <a:t>: Allows creation of simulated devices in QEMU and </a:t>
            </a:r>
            <a:r>
              <a:rPr lang="en-IN" sz="1200" dirty="0" err="1"/>
              <a:t>native_posix</a:t>
            </a:r>
            <a:r>
              <a:rPr lang="en-IN" sz="1200" dirty="0"/>
              <a:t> environments.</a:t>
            </a:r>
          </a:p>
          <a:p>
            <a:endParaRPr lang="en-US" sz="1200" dirty="0"/>
          </a:p>
          <a:p>
            <a:r>
              <a:rPr lang="en-IN" sz="1200" b="1" dirty="0"/>
              <a:t>5. Storage and File Systems</a:t>
            </a:r>
          </a:p>
          <a:p>
            <a:r>
              <a:rPr lang="en-IN" sz="1200" dirty="0"/>
              <a:t> Supports </a:t>
            </a:r>
            <a:r>
              <a:rPr lang="en-IN" sz="1200" dirty="0" err="1"/>
              <a:t>LittleFS</a:t>
            </a:r>
            <a:r>
              <a:rPr lang="en-IN" sz="1200" dirty="0"/>
              <a:t> &amp; FATFS)</a:t>
            </a:r>
            <a:br>
              <a:rPr lang="en-IN" sz="1200" dirty="0"/>
            </a:br>
            <a:r>
              <a:rPr lang="en-IN" sz="1200" b="1" dirty="0"/>
              <a:t>NVS (Non-Volatile Storage): </a:t>
            </a:r>
            <a:r>
              <a:rPr lang="en-IN" sz="1200" dirty="0"/>
              <a:t>Lightweight key-value store over flash.</a:t>
            </a:r>
          </a:p>
          <a:p>
            <a:r>
              <a:rPr lang="en-IN" sz="1200" b="1" dirty="0"/>
              <a:t>FS Shell &amp; APIs</a:t>
            </a:r>
            <a:r>
              <a:rPr lang="en-IN" sz="1200" dirty="0"/>
              <a:t>: Unified API for file system operations (</a:t>
            </a:r>
            <a:r>
              <a:rPr lang="en-IN" sz="1200" dirty="0" err="1"/>
              <a:t>fs_open</a:t>
            </a:r>
            <a:r>
              <a:rPr lang="en-IN" sz="1200" dirty="0"/>
              <a:t>, </a:t>
            </a:r>
            <a:r>
              <a:rPr lang="en-IN" sz="1200" dirty="0" err="1"/>
              <a:t>fs_write</a:t>
            </a:r>
            <a:r>
              <a:rPr lang="en-IN" sz="1200" dirty="0"/>
              <a:t>, </a:t>
            </a:r>
            <a:r>
              <a:rPr lang="en-IN" sz="1200" dirty="0" err="1"/>
              <a:t>fs_read</a:t>
            </a:r>
            <a:r>
              <a:rPr lang="en-IN" sz="1200" dirty="0"/>
              <a:t>, etc.).</a:t>
            </a:r>
          </a:p>
          <a:p>
            <a:r>
              <a:rPr lang="en-IN" sz="1200" b="1" dirty="0"/>
              <a:t>Disk Access Layer</a:t>
            </a:r>
            <a:r>
              <a:rPr lang="en-IN" sz="1200" dirty="0"/>
              <a:t>: For SD/MMC, RAM disks, or USB mass storage.</a:t>
            </a:r>
          </a:p>
          <a:p>
            <a:endParaRPr lang="en-IN" sz="1200" dirty="0"/>
          </a:p>
          <a:p>
            <a:r>
              <a:rPr lang="en-US" sz="1200" b="1" dirty="0"/>
              <a:t>6. Power Management (More Depth)</a:t>
            </a:r>
          </a:p>
          <a:p>
            <a:r>
              <a:rPr lang="en-US" sz="1200" b="1" dirty="0"/>
              <a:t>Idle Thread Hooks:</a:t>
            </a:r>
            <a:r>
              <a:rPr lang="en-US" sz="1200" dirty="0"/>
              <a:t> Called when no thread is ready to run.</a:t>
            </a:r>
          </a:p>
          <a:p>
            <a:r>
              <a:rPr lang="en-US" sz="1200" b="1" dirty="0"/>
              <a:t>Device PM States:</a:t>
            </a:r>
            <a:r>
              <a:rPr lang="en-US" sz="1200" dirty="0"/>
              <a:t> Devices can define multiple power states (ACTIVE, SUSPENDED, OFF).</a:t>
            </a:r>
          </a:p>
          <a:p>
            <a:r>
              <a:rPr lang="en-US" sz="1200" b="1" dirty="0"/>
              <a:t>Clock Gating and DVFS:</a:t>
            </a:r>
            <a:r>
              <a:rPr lang="en-US" sz="1200" dirty="0"/>
              <a:t> Integrates with SOC-level clock and voltage control (on supported hardware).</a:t>
            </a:r>
          </a:p>
          <a:p>
            <a:r>
              <a:rPr lang="en-US" sz="1200" b="1" dirty="0"/>
              <a:t>Energy Profiling Tools:</a:t>
            </a:r>
            <a:r>
              <a:rPr lang="en-US" sz="1200" dirty="0"/>
              <a:t> Integration with tracing subsystems for power analysis.</a:t>
            </a:r>
            <a:endParaRPr lang="en-US" sz="1800" b="0" i="0" u="none" strike="noStrike" baseline="0" dirty="0">
              <a:solidFill>
                <a:srgbClr val="000000"/>
              </a:solidFill>
              <a:latin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165359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5EB94-5139-6057-1A04-24E5719F4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67E77AF-131F-F8FF-C1DD-37DF158C9C04}"/>
              </a:ext>
            </a:extLst>
          </p:cNvPr>
          <p:cNvSpPr txBox="1"/>
          <p:nvPr/>
        </p:nvSpPr>
        <p:spPr>
          <a:xfrm>
            <a:off x="1063813" y="324465"/>
            <a:ext cx="10064372" cy="5232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/>
              <a:t>Differences Between Zephyr Threads and Typical RTOS Threads</a:t>
            </a:r>
            <a:endParaRPr lang="en-US" sz="28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2A9635-1B2D-5CD3-8103-32EECB6C5B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579408"/>
              </p:ext>
            </p:extLst>
          </p:nvPr>
        </p:nvGraphicFramePr>
        <p:xfrm>
          <a:off x="1063814" y="1114358"/>
          <a:ext cx="10064371" cy="5247706"/>
        </p:xfrm>
        <a:graphic>
          <a:graphicData uri="http://schemas.openxmlformats.org/drawingml/2006/table">
            <a:tbl>
              <a:tblPr/>
              <a:tblGrid>
                <a:gridCol w="1927697">
                  <a:extLst>
                    <a:ext uri="{9D8B030D-6E8A-4147-A177-3AD203B41FA5}">
                      <a16:colId xmlns:a16="http://schemas.microsoft.com/office/drawing/2014/main" val="4058222725"/>
                    </a:ext>
                  </a:extLst>
                </a:gridCol>
                <a:gridCol w="4408137">
                  <a:extLst>
                    <a:ext uri="{9D8B030D-6E8A-4147-A177-3AD203B41FA5}">
                      <a16:colId xmlns:a16="http://schemas.microsoft.com/office/drawing/2014/main" val="3993946904"/>
                    </a:ext>
                  </a:extLst>
                </a:gridCol>
                <a:gridCol w="3728537">
                  <a:extLst>
                    <a:ext uri="{9D8B030D-6E8A-4147-A177-3AD203B41FA5}">
                      <a16:colId xmlns:a16="http://schemas.microsoft.com/office/drawing/2014/main" val="3191663634"/>
                    </a:ext>
                  </a:extLst>
                </a:gridCol>
              </a:tblGrid>
              <a:tr h="166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Aspect</a:t>
                      </a:r>
                      <a:endParaRPr lang="en-IN" sz="1200"/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Zephyr Threads</a:t>
                      </a:r>
                      <a:endParaRPr lang="en-IN" sz="1200"/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Typical RTOS Threads (e.g., FreeRTOS, ThreadX, µC/OS-II)</a:t>
                      </a:r>
                      <a:endParaRPr lang="en-US" sz="1200"/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18141"/>
                  </a:ext>
                </a:extLst>
              </a:tr>
              <a:tr h="238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Thread Model</a:t>
                      </a:r>
                      <a:endParaRPr lang="en-IN" sz="1200"/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Unified kernel thread model — every execution context (even the main thread) is a 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</a:rPr>
                        <a:t>k_thread</a:t>
                      </a:r>
                      <a:r>
                        <a:rPr lang="en-US" sz="1200" dirty="0"/>
                        <a:t> object.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Often a mix of user-created threads and implicit ones (e.g., idle or system tasks).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450674"/>
                  </a:ext>
                </a:extLst>
              </a:tr>
              <a:tr h="238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Creation</a:t>
                      </a:r>
                      <a:endParaRPr lang="en-IN" sz="1200"/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Created with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k_thread_create()</a:t>
                      </a:r>
                      <a:r>
                        <a:rPr lang="en-US" sz="1200"/>
                        <a:t> or statically with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K_THREAD_DEFINE()</a:t>
                      </a:r>
                      <a:r>
                        <a:rPr lang="en-US" sz="1200"/>
                        <a:t>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Usually created dynamically with 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</a:rPr>
                        <a:t>xTaskCreate</a:t>
                      </a:r>
                      <a:r>
                        <a:rPr lang="en-US" sz="12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200" dirty="0"/>
                        <a:t> or similar functions.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447216"/>
                  </a:ext>
                </a:extLst>
              </a:tr>
              <a:tr h="238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Thread Lifecycle</a:t>
                      </a:r>
                      <a:endParaRPr lang="en-IN" sz="1200"/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Zephyr threads can be preemptive or cooperative, depending on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CONFIG_PREEMPTIVE_THREADS</a:t>
                      </a:r>
                      <a:r>
                        <a:rPr lang="en-US" sz="1200"/>
                        <a:t>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Some </a:t>
                      </a:r>
                      <a:r>
                        <a:rPr lang="en-US" sz="1200" dirty="0" err="1"/>
                        <a:t>RTOSes</a:t>
                      </a:r>
                      <a:r>
                        <a:rPr lang="en-US" sz="1200" dirty="0"/>
                        <a:t> (like </a:t>
                      </a:r>
                      <a:r>
                        <a:rPr lang="en-US" sz="1200" dirty="0" err="1"/>
                        <a:t>FreeRTOS</a:t>
                      </a:r>
                      <a:r>
                        <a:rPr lang="en-US" sz="1200" dirty="0"/>
                        <a:t>) are always preemptive; cooperative scheduling is optional.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08053"/>
                  </a:ext>
                </a:extLst>
              </a:tr>
              <a:tr h="166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Priorities</a:t>
                      </a:r>
                      <a:endParaRPr lang="en-IN" sz="1200"/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Up to 32 or 64 levels (configurable), </a:t>
                      </a:r>
                      <a:r>
                        <a:rPr lang="en-US" sz="1200" b="1"/>
                        <a:t>lower number = higher priority</a:t>
                      </a:r>
                      <a:r>
                        <a:rPr lang="en-US" sz="1200"/>
                        <a:t>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Typically up to 256 levels, </a:t>
                      </a:r>
                      <a:r>
                        <a:rPr lang="en-US" sz="1200" b="1"/>
                        <a:t>higher number = higher priority</a:t>
                      </a:r>
                      <a:r>
                        <a:rPr lang="en-US" sz="1200"/>
                        <a:t>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824149"/>
                  </a:ext>
                </a:extLst>
              </a:tr>
              <a:tr h="381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Stack Management</a:t>
                      </a:r>
                      <a:endParaRPr lang="en-IN" sz="1200"/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Each thread has an independent stack region, often statically allocated for determinism. Zephyr also supports </a:t>
                      </a:r>
                      <a:r>
                        <a:rPr lang="en-US" sz="1200" b="1"/>
                        <a:t>stack object tracking</a:t>
                      </a:r>
                      <a:r>
                        <a:rPr lang="en-US" sz="1200"/>
                        <a:t> and overflow protection.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Similar in concept, but Zephyr integrates tighter with memory protection (MMU/MPU).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752492"/>
                  </a:ext>
                </a:extLst>
              </a:tr>
              <a:tr h="309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Execution Contexts</a:t>
                      </a:r>
                      <a:endParaRPr lang="en-IN" sz="1200"/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Supports </a:t>
                      </a:r>
                      <a:r>
                        <a:rPr lang="en-US" sz="1200" b="1"/>
                        <a:t>user mode</a:t>
                      </a:r>
                      <a:r>
                        <a:rPr lang="en-US" sz="1200"/>
                        <a:t> vs </a:t>
                      </a:r>
                      <a:r>
                        <a:rPr lang="en-US" sz="1200" b="1"/>
                        <a:t>kernel mode threads</a:t>
                      </a:r>
                      <a:r>
                        <a:rPr lang="en-US" sz="1200"/>
                        <a:t> (important for memory protection with MMU/MPU).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Most small RTOSes don’t enforce privilege separation at the thread level.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517714"/>
                  </a:ext>
                </a:extLst>
              </a:tr>
              <a:tr h="309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Cooperative vs Preemptive Threads</a:t>
                      </a:r>
                      <a:endParaRPr lang="en-IN" sz="1200"/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You can mix them: cooperative threads yield explicitly (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k_yield()</a:t>
                      </a:r>
                      <a:r>
                        <a:rPr lang="en-US" sz="1200"/>
                        <a:t>), preemptive ones are scheduled automatically.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Many RTOSes pick one model globally; mixing is less flexible.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980992"/>
                  </a:ext>
                </a:extLst>
              </a:tr>
              <a:tr h="238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Main Thread Integration</a:t>
                      </a:r>
                      <a:endParaRPr lang="en-IN" sz="1200"/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main()</a:t>
                      </a:r>
                      <a:r>
                        <a:rPr lang="en-US" sz="1200"/>
                        <a:t> function itself runs as a kernel thread — it’s not a special case.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Often,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main()</a:t>
                      </a:r>
                      <a:r>
                        <a:rPr lang="en-US" sz="1200"/>
                        <a:t> is separate or runs before the scheduler starts.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260349"/>
                  </a:ext>
                </a:extLst>
              </a:tr>
              <a:tr h="309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Thread Metadata</a:t>
                      </a:r>
                      <a:endParaRPr lang="en-IN" sz="1200"/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struct k_thread</a:t>
                      </a:r>
                      <a:r>
                        <a:rPr lang="en-US" sz="1200"/>
                        <a:t> holds full control block (stack pointer, priority, state, timers, etc.), accessible via APIs.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Usually, thread control blocks (TCBs) are opaque or semi-hidden.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810903"/>
                  </a:ext>
                </a:extLst>
              </a:tr>
              <a:tr h="309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Synchronization Primitives</a:t>
                      </a:r>
                      <a:endParaRPr lang="en-IN" sz="1200"/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Deep integration with kernel objects — semaphores, mutexes, message queues, FIFOs, etc., all operate natively with threads.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Other RTOSes offer similar primitives but may not be as tightly unified with the scheduler.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44776"/>
                  </a:ext>
                </a:extLst>
              </a:tr>
              <a:tr h="238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Tracing &amp; Debugging</a:t>
                      </a:r>
                      <a:endParaRPr lang="en-IN" sz="1200"/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Built-in tracing via </a:t>
                      </a:r>
                      <a:r>
                        <a:rPr lang="en-US" sz="1200" b="1"/>
                        <a:t>SystemView</a:t>
                      </a:r>
                      <a:r>
                        <a:rPr lang="en-US" sz="1200"/>
                        <a:t>, </a:t>
                      </a:r>
                      <a:r>
                        <a:rPr lang="en-US" sz="1200" b="1"/>
                        <a:t>Thread Analyzer</a:t>
                      </a:r>
                      <a:r>
                        <a:rPr lang="en-US" sz="1200"/>
                        <a:t>, or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CONFIG_THREAD_MONITOR</a:t>
                      </a:r>
                      <a:r>
                        <a:rPr lang="en-US" sz="1200"/>
                        <a:t>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Usually requires external add-ons or middleware for trace.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750656"/>
                  </a:ext>
                </a:extLst>
              </a:tr>
              <a:tr h="309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Energy Awareness</a:t>
                      </a:r>
                      <a:endParaRPr lang="en-IN" sz="1200"/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Zephyr integrates thread scheduling with its </a:t>
                      </a:r>
                      <a:r>
                        <a:rPr lang="en-US" sz="1200" b="1"/>
                        <a:t>power management subsystem</a:t>
                      </a:r>
                      <a:r>
                        <a:rPr lang="en-US" sz="1200"/>
                        <a:t> (idle threads trigger power states).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Other </a:t>
                      </a:r>
                      <a:r>
                        <a:rPr lang="en-US" sz="1200" dirty="0" err="1"/>
                        <a:t>RTOSes</a:t>
                      </a:r>
                      <a:r>
                        <a:rPr lang="en-US" sz="1200" dirty="0"/>
                        <a:t> often leave power management external.</a:t>
                      </a:r>
                    </a:p>
                  </a:txBody>
                  <a:tcPr marL="23843" marR="23843" marT="11921" marB="11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24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8427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DE1F52-4A8E-F2EF-4E17-92A5EF599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195D40-5A9C-29C8-6968-1849AA4E7691}"/>
              </a:ext>
            </a:extLst>
          </p:cNvPr>
          <p:cNvSpPr txBox="1"/>
          <p:nvPr/>
        </p:nvSpPr>
        <p:spPr>
          <a:xfrm>
            <a:off x="5017008" y="13456"/>
            <a:ext cx="2869691" cy="3927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 fontScale="47500" lnSpcReduction="20000"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Threading</a:t>
            </a:r>
            <a:r>
              <a:rPr lang="en-US" sz="4800" b="1" i="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Model</a:t>
            </a:r>
            <a:endParaRPr lang="en-US" sz="4800" b="1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AE90F56-5BD6-53F5-9A04-197DE030C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027037"/>
              </p:ext>
            </p:extLst>
          </p:nvPr>
        </p:nvGraphicFramePr>
        <p:xfrm>
          <a:off x="1241042" y="1008544"/>
          <a:ext cx="9934958" cy="4774338"/>
        </p:xfrm>
        <a:graphic>
          <a:graphicData uri="http://schemas.openxmlformats.org/drawingml/2006/table">
            <a:tbl>
              <a:tblPr firstRow="1" firstCol="1" bandRow="1"/>
              <a:tblGrid>
                <a:gridCol w="2069542">
                  <a:extLst>
                    <a:ext uri="{9D8B030D-6E8A-4147-A177-3AD203B41FA5}">
                      <a16:colId xmlns:a16="http://schemas.microsoft.com/office/drawing/2014/main" val="853505552"/>
                    </a:ext>
                  </a:extLst>
                </a:gridCol>
                <a:gridCol w="3930479">
                  <a:extLst>
                    <a:ext uri="{9D8B030D-6E8A-4147-A177-3AD203B41FA5}">
                      <a16:colId xmlns:a16="http://schemas.microsoft.com/office/drawing/2014/main" val="677097165"/>
                    </a:ext>
                  </a:extLst>
                </a:gridCol>
                <a:gridCol w="3934937">
                  <a:extLst>
                    <a:ext uri="{9D8B030D-6E8A-4147-A177-3AD203B41FA5}">
                      <a16:colId xmlns:a16="http://schemas.microsoft.com/office/drawing/2014/main" val="69234304"/>
                    </a:ext>
                  </a:extLst>
                </a:gridCol>
              </a:tblGrid>
              <a:tr h="26524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i="0" u="none" strike="noStrike">
                          <a:effectLst/>
                          <a:highlight>
                            <a:srgbClr val="00FFFF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Aspect</a:t>
                      </a:r>
                      <a:endParaRPr lang="en-US" sz="1400" b="1" i="0" u="none" strike="noStrike">
                        <a:effectLst/>
                        <a:highlight>
                          <a:srgbClr val="00FFFF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i="0" u="none" strike="noStrike">
                          <a:effectLst/>
                          <a:highlight>
                            <a:srgbClr val="00FFFF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Zephyr RTOS</a:t>
                      </a:r>
                      <a:endParaRPr lang="en-US" sz="1400" b="1" i="0" u="none" strike="noStrike">
                        <a:effectLst/>
                        <a:highlight>
                          <a:srgbClr val="00FFFF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i="0" u="none" strike="noStrike" dirty="0">
                          <a:effectLst/>
                          <a:highlight>
                            <a:srgbClr val="00FFFF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Other </a:t>
                      </a:r>
                      <a:r>
                        <a:rPr lang="en-US" sz="1400" b="1" i="0" u="none" strike="noStrike" dirty="0" err="1">
                          <a:effectLst/>
                          <a:highlight>
                            <a:srgbClr val="00FFFF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RTOSes</a:t>
                      </a:r>
                      <a:endParaRPr lang="en-US" sz="1400" b="1" i="0" u="none" strike="noStrike" dirty="0">
                        <a:effectLst/>
                        <a:highlight>
                          <a:srgbClr val="00FFFF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7663"/>
                  </a:ext>
                </a:extLst>
              </a:tr>
              <a:tr h="26524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Governance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Linux Foundation, open-source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Varies (Amazon, Microsoft, etc.)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877539"/>
                  </a:ext>
                </a:extLst>
              </a:tr>
              <a:tr h="26524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Licensing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Apache 2.0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MIT, commercial, proprietary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134084"/>
                  </a:ext>
                </a:extLst>
              </a:tr>
              <a:tr h="26524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Modularity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Highly modular via Kconfig + Devicetree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Often monolithic or semi-modular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253783"/>
                  </a:ext>
                </a:extLst>
              </a:tr>
              <a:tr h="26524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Footprint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Scalable from 8KB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Small, but may require effort to scale down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854549"/>
                  </a:ext>
                </a:extLst>
              </a:tr>
              <a:tr h="26524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Scheduling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Preemptive, cooperative, EDF, round-robin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Mostly preemptive, round-robin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273483"/>
                  </a:ext>
                </a:extLst>
              </a:tr>
              <a:tr h="26524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SMP Support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Yes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Limited or absent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776442"/>
                  </a:ext>
                </a:extLst>
              </a:tr>
              <a:tr h="26524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Tickless Kernel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Supported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Supported in some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4674953"/>
                  </a:ext>
                </a:extLst>
              </a:tr>
              <a:tr h="26524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Thread Types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Cooperative, preemptive, meta-IRQ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Kernel threads, user-space threads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597302"/>
                  </a:ext>
                </a:extLst>
              </a:tr>
              <a:tr h="26524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Real-time Threads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Native support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Requires PREEMPT_RT patch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937352"/>
                  </a:ext>
                </a:extLst>
              </a:tr>
              <a:tr h="26524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Stack Protection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Canaries, MPU/MMU, overflow detection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Kernel-managed stack protection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781697"/>
                  </a:ext>
                </a:extLst>
              </a:tr>
              <a:tr h="26524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Driver Model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Unified, extensible, Devicetree-based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Often board-specific, less abstracted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531781"/>
                  </a:ext>
                </a:extLst>
              </a:tr>
              <a:tr h="26524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Testing Frameworks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Ztest, Pytest, Twister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Limited or external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290642"/>
                  </a:ext>
                </a:extLst>
              </a:tr>
              <a:tr h="26524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Build System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CMake + Kconfig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Makefiles</a:t>
                      </a:r>
                      <a:r>
                        <a:rPr lang="en-US" sz="1200" b="0" i="0" u="none" strike="noStrike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or custom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341595"/>
                  </a:ext>
                </a:extLst>
              </a:tr>
              <a:tr h="26524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Debugging Tools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GDB, OpenOCD, Segger J-Link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Varies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34921"/>
                  </a:ext>
                </a:extLst>
              </a:tr>
              <a:tr h="26524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Networking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IPv4/IPv6, MQTT, CoAP, OpenThread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Usually IPv4 only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500851"/>
                  </a:ext>
                </a:extLst>
              </a:tr>
              <a:tr h="26524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Board Support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600+ boards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Varies by vendor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660722"/>
                  </a:ext>
                </a:extLst>
              </a:tr>
              <a:tr h="26524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Power Management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Tickless kernel, sleep states, WFI/WFE/hlt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Basic or manual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185" marR="73185" marT="101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262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3697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104B4-E023-25B5-8334-4909C091E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039236-4A79-3099-E1CD-F8AAEF6F85AF}"/>
              </a:ext>
            </a:extLst>
          </p:cNvPr>
          <p:cNvSpPr txBox="1"/>
          <p:nvPr/>
        </p:nvSpPr>
        <p:spPr>
          <a:xfrm>
            <a:off x="3233056" y="2950087"/>
            <a:ext cx="4876802" cy="64633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rtl="0"/>
            <a:r>
              <a:rPr lang="en-US" sz="3600" b="1" dirty="0">
                <a:solidFill>
                  <a:srgbClr val="000000"/>
                </a:solidFill>
              </a:rPr>
              <a:t>Threading</a:t>
            </a:r>
            <a:r>
              <a:rPr lang="en-US" sz="3600" b="1" i="0" dirty="0">
                <a:solidFill>
                  <a:srgbClr val="424242"/>
                </a:solidFill>
                <a:effectLst/>
              </a:rPr>
              <a:t> Model</a:t>
            </a:r>
            <a:endParaRPr lang="en-US" sz="3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19532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B15637-8DAE-3CA7-73C9-F0CB71B41F12}"/>
              </a:ext>
            </a:extLst>
          </p:cNvPr>
          <p:cNvSpPr txBox="1"/>
          <p:nvPr/>
        </p:nvSpPr>
        <p:spPr>
          <a:xfrm>
            <a:off x="3189513" y="43601"/>
            <a:ext cx="4876802" cy="64633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rtl="0"/>
            <a:r>
              <a:rPr lang="en-US" sz="3600" b="1" dirty="0">
                <a:solidFill>
                  <a:srgbClr val="000000"/>
                </a:solidFill>
              </a:rPr>
              <a:t>Threading</a:t>
            </a:r>
            <a:r>
              <a:rPr lang="en-US" sz="3600" b="1" i="0" dirty="0">
                <a:solidFill>
                  <a:srgbClr val="424242"/>
                </a:solidFill>
                <a:effectLst/>
              </a:rPr>
              <a:t> Model</a:t>
            </a:r>
            <a:endParaRPr lang="en-US" sz="360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11B03D-7BEA-A779-CD2C-8C464DD36BC9}"/>
              </a:ext>
            </a:extLst>
          </p:cNvPr>
          <p:cNvSpPr txBox="1"/>
          <p:nvPr/>
        </p:nvSpPr>
        <p:spPr>
          <a:xfrm>
            <a:off x="631369" y="837004"/>
            <a:ext cx="11146973" cy="1785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 Thread</a:t>
            </a: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: The smallest unit of execution in Zephyr.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 Each thread has:   Its own </a:t>
            </a: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stack,  </a:t>
            </a: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A </a:t>
            </a: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priority , </a:t>
            </a: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A </a:t>
            </a: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state</a:t>
            </a: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 (e.g., ready, running, suspended)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Threads are scheduled by the </a:t>
            </a: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Zephyr kernel</a:t>
            </a: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 based on priority and system configuration.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 Zephyr is a </a:t>
            </a:r>
            <a:r>
              <a:rPr lang="en-US" b="1" dirty="0"/>
              <a:t>preemptive multitasking RTOS</a:t>
            </a:r>
            <a:r>
              <a:rPr lang="en-US" dirty="0"/>
              <a:t>. 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Threads allow parallel tasks with defined priorities and stack memory.</a:t>
            </a:r>
            <a:endParaRPr lang="en-US" b="0" i="0" dirty="0">
              <a:solidFill>
                <a:srgbClr val="424242"/>
              </a:solidFill>
              <a:effectLst/>
              <a:latin typeface="Segoe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95E778-EA25-B648-CC57-FC0404A214DD}"/>
              </a:ext>
            </a:extLst>
          </p:cNvPr>
          <p:cNvSpPr txBox="1"/>
          <p:nvPr/>
        </p:nvSpPr>
        <p:spPr>
          <a:xfrm>
            <a:off x="631369" y="2853345"/>
            <a:ext cx="4702631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u="sng" dirty="0">
                <a:solidFill>
                  <a:srgbClr val="424242"/>
                </a:solidFill>
                <a:effectLst/>
                <a:latin typeface="Segoe Sans"/>
              </a:rPr>
              <a:t> Thread Lifecycle</a:t>
            </a:r>
            <a:endParaRPr lang="en-US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READY: Eligible to run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RUNNING: Currently executing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PENDING: Waiting for an event/resource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SUSPENDED: Not eligible to run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DEAD: Terminated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58CD9F-4BC1-1913-A7D6-F449604812B3}"/>
              </a:ext>
            </a:extLst>
          </p:cNvPr>
          <p:cNvSpPr txBox="1"/>
          <p:nvPr/>
        </p:nvSpPr>
        <p:spPr>
          <a:xfrm>
            <a:off x="6204855" y="2967335"/>
            <a:ext cx="5127171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Creating Threads ::Thread Creation 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Static creation: Using </a:t>
            </a:r>
            <a:r>
              <a:rPr lang="en-US" b="1" dirty="0"/>
              <a:t>K_THREAD_DEFINE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Dynamic creation: Using </a:t>
            </a:r>
            <a:r>
              <a:rPr lang="en-US" b="1" dirty="0" err="1"/>
              <a:t>k_thread_create</a:t>
            </a:r>
            <a:r>
              <a:rPr lang="en-US" b="1" dirty="0"/>
              <a:t>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2A66D0-F09D-EEBC-13FD-97F7A455A703}"/>
              </a:ext>
            </a:extLst>
          </p:cNvPr>
          <p:cNvSpPr txBox="1"/>
          <p:nvPr/>
        </p:nvSpPr>
        <p:spPr>
          <a:xfrm>
            <a:off x="631369" y="4831141"/>
            <a:ext cx="60960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Thread Control 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k_thread_suspend</a:t>
            </a:r>
            <a:r>
              <a:rPr lang="en-US" b="1" dirty="0"/>
              <a:t>(): Suspend a thread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k_thread_resume</a:t>
            </a:r>
            <a:r>
              <a:rPr lang="en-US" b="1" dirty="0"/>
              <a:t>(): Resume a suspended thread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k_thread_abort</a:t>
            </a:r>
            <a:r>
              <a:rPr lang="en-US" b="1" dirty="0"/>
              <a:t>(): Terminate a thread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k_thread_yield</a:t>
            </a:r>
            <a:r>
              <a:rPr lang="en-US" b="1" dirty="0"/>
              <a:t>(): Yield CPU voluntarily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k_sleep</a:t>
            </a:r>
            <a:r>
              <a:rPr lang="en-US" b="1" dirty="0"/>
              <a:t>(): Put thread to sleep for a duration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8BAEA1-9721-33FD-7855-66BF8BEBE241}"/>
              </a:ext>
            </a:extLst>
          </p:cNvPr>
          <p:cNvSpPr txBox="1"/>
          <p:nvPr/>
        </p:nvSpPr>
        <p:spPr>
          <a:xfrm>
            <a:off x="7086602" y="4235892"/>
            <a:ext cx="4593769" cy="23698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u="sng" dirty="0"/>
              <a:t>Thread Priority</a:t>
            </a:r>
          </a:p>
          <a:p>
            <a:endParaRPr lang="en-US" sz="2000" b="1" u="sng" dirty="0"/>
          </a:p>
          <a:p>
            <a:r>
              <a:rPr lang="en-US" dirty="0"/>
              <a:t>Range: CONFIG_NUM_COOP_PRIORITIES to CONFIG_NUM_PREEMPT_PRIORITIES</a:t>
            </a:r>
          </a:p>
          <a:p>
            <a:endParaRPr lang="en-US" dirty="0"/>
          </a:p>
          <a:p>
            <a:r>
              <a:rPr lang="en-US" dirty="0"/>
              <a:t>Lower number = higher priority</a:t>
            </a:r>
          </a:p>
          <a:p>
            <a:endParaRPr lang="en-US" dirty="0"/>
          </a:p>
          <a:p>
            <a:r>
              <a:rPr lang="en-US" dirty="0"/>
              <a:t>Priority determines scheduler behavior</a:t>
            </a:r>
          </a:p>
        </p:txBody>
      </p:sp>
    </p:spTree>
    <p:extLst>
      <p:ext uri="{BB962C8B-B14F-4D97-AF65-F5344CB8AC3E}">
        <p14:creationId xmlns:p14="http://schemas.microsoft.com/office/powerpoint/2010/main" val="3810831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37955-F769-F3C9-0881-E79EF6A45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BDF437-7BDA-C0A1-6C00-597A2A909AEA}"/>
              </a:ext>
            </a:extLst>
          </p:cNvPr>
          <p:cNvSpPr txBox="1"/>
          <p:nvPr/>
        </p:nvSpPr>
        <p:spPr>
          <a:xfrm>
            <a:off x="408213" y="702477"/>
            <a:ext cx="10722429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struct </a:t>
            </a:r>
            <a:r>
              <a:rPr lang="en-US" sz="1600" dirty="0" err="1"/>
              <a:t>k_thread</a:t>
            </a:r>
            <a:r>
              <a:rPr lang="en-US" sz="1600" dirty="0"/>
              <a:t> *</a:t>
            </a:r>
            <a:r>
              <a:rPr lang="en-US" sz="1600" b="1" dirty="0" err="1"/>
              <a:t>k_thread_create</a:t>
            </a:r>
            <a:r>
              <a:rPr lang="en-US" sz="1600" dirty="0"/>
              <a:t>(</a:t>
            </a:r>
          </a:p>
          <a:p>
            <a:r>
              <a:rPr lang="en-US" sz="1600" dirty="0"/>
              <a:t>    struct </a:t>
            </a:r>
            <a:r>
              <a:rPr lang="en-US" sz="1600" dirty="0" err="1"/>
              <a:t>k_thread</a:t>
            </a:r>
            <a:r>
              <a:rPr lang="en-US" sz="1600" dirty="0"/>
              <a:t> *</a:t>
            </a:r>
            <a:r>
              <a:rPr lang="en-US" sz="1600" dirty="0" err="1"/>
              <a:t>new_thread</a:t>
            </a:r>
            <a:r>
              <a:rPr lang="en-US" sz="1600" dirty="0"/>
              <a:t>,     </a:t>
            </a:r>
            <a:r>
              <a:rPr lang="en-US" sz="1600" dirty="0" err="1"/>
              <a:t>k_thread_stack_t</a:t>
            </a:r>
            <a:r>
              <a:rPr lang="en-US" sz="1600" dirty="0"/>
              <a:t> *stack,     </a:t>
            </a:r>
            <a:r>
              <a:rPr lang="en-US" sz="1600" dirty="0" err="1"/>
              <a:t>size_t</a:t>
            </a:r>
            <a:r>
              <a:rPr lang="en-US" sz="1600" dirty="0"/>
              <a:t> </a:t>
            </a:r>
            <a:r>
              <a:rPr lang="en-US" sz="1600" dirty="0" err="1"/>
              <a:t>stack_size</a:t>
            </a:r>
            <a:r>
              <a:rPr lang="en-US" sz="1600" dirty="0"/>
              <a:t>,     </a:t>
            </a:r>
            <a:r>
              <a:rPr lang="en-US" sz="1600" dirty="0" err="1"/>
              <a:t>k_thread_entry_t</a:t>
            </a:r>
            <a:r>
              <a:rPr lang="en-US" sz="1600" dirty="0"/>
              <a:t> entry,</a:t>
            </a:r>
          </a:p>
          <a:p>
            <a:r>
              <a:rPr lang="en-US" sz="1600" dirty="0"/>
              <a:t>    void *p1, void *p2, void *p3,     int </a:t>
            </a:r>
            <a:r>
              <a:rPr lang="en-US" sz="1600" dirty="0" err="1"/>
              <a:t>prio</a:t>
            </a:r>
            <a:r>
              <a:rPr lang="en-US" sz="1600" dirty="0"/>
              <a:t>,     uint32_t options,     </a:t>
            </a:r>
            <a:r>
              <a:rPr lang="en-US" sz="1600" dirty="0" err="1"/>
              <a:t>k_timeout_t</a:t>
            </a:r>
            <a:r>
              <a:rPr lang="en-US" sz="1600" dirty="0"/>
              <a:t> delay 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B68730-C5E1-5F75-6C99-34DD078403A4}"/>
              </a:ext>
            </a:extLst>
          </p:cNvPr>
          <p:cNvSpPr txBox="1"/>
          <p:nvPr/>
        </p:nvSpPr>
        <p:spPr>
          <a:xfrm>
            <a:off x="408213" y="2105561"/>
            <a:ext cx="11375573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/>
              <a:t>K_THREAD_STACK_DEFINE</a:t>
            </a:r>
            <a:r>
              <a:rPr lang="en-US" sz="1600" dirty="0"/>
              <a:t>(</a:t>
            </a:r>
            <a:r>
              <a:rPr lang="en-US" sz="1600" dirty="0" err="1"/>
              <a:t>my_stack_area</a:t>
            </a:r>
            <a:r>
              <a:rPr lang="en-US" sz="1600" dirty="0"/>
              <a:t>, 1024);</a:t>
            </a:r>
          </a:p>
          <a:p>
            <a:r>
              <a:rPr lang="en-US" sz="1600" dirty="0"/>
              <a:t>struct </a:t>
            </a:r>
            <a:r>
              <a:rPr lang="en-US" sz="1600" dirty="0" err="1"/>
              <a:t>k_thread</a:t>
            </a:r>
            <a:r>
              <a:rPr lang="en-US" sz="1600" dirty="0"/>
              <a:t> </a:t>
            </a:r>
            <a:r>
              <a:rPr lang="en-US" sz="1600" dirty="0" err="1"/>
              <a:t>my_thread_data</a:t>
            </a:r>
            <a:r>
              <a:rPr lang="en-US" sz="1600" dirty="0"/>
              <a:t>;</a:t>
            </a:r>
          </a:p>
          <a:p>
            <a:endParaRPr lang="en-US" sz="1600" dirty="0"/>
          </a:p>
          <a:p>
            <a:r>
              <a:rPr lang="en-US" sz="1600" dirty="0"/>
              <a:t>void </a:t>
            </a:r>
            <a:r>
              <a:rPr lang="en-US" sz="1600" dirty="0" err="1"/>
              <a:t>my_thread</a:t>
            </a:r>
            <a:r>
              <a:rPr lang="en-US" sz="1600" dirty="0"/>
              <a:t>(void *p1, void *p2, void *p3) {     // Thread logic here }</a:t>
            </a:r>
          </a:p>
          <a:p>
            <a:r>
              <a:rPr lang="en-US" sz="1600" dirty="0" err="1"/>
              <a:t>k_thread_create</a:t>
            </a:r>
            <a:r>
              <a:rPr lang="en-US" sz="1600" dirty="0"/>
              <a:t>(&amp;</a:t>
            </a:r>
            <a:r>
              <a:rPr lang="en-US" sz="1600" dirty="0" err="1"/>
              <a:t>my_thread_data</a:t>
            </a:r>
            <a:r>
              <a:rPr lang="en-US" sz="1600" dirty="0"/>
              <a:t>, </a:t>
            </a:r>
            <a:r>
              <a:rPr lang="en-US" sz="1600" dirty="0" err="1"/>
              <a:t>my_stack_area</a:t>
            </a:r>
            <a:r>
              <a:rPr lang="en-US" sz="1600" dirty="0"/>
              <a:t>, 1024,  </a:t>
            </a:r>
            <a:r>
              <a:rPr lang="en-US" sz="1600" dirty="0" err="1"/>
              <a:t>my_thread</a:t>
            </a:r>
            <a:r>
              <a:rPr lang="en-US" sz="1600" dirty="0"/>
              <a:t>, NULL, NULL, NULL,5, K_ESSENTIAL, K_NO_WAIT);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324280-7B46-197C-54CA-37DA4A58383A}"/>
              </a:ext>
            </a:extLst>
          </p:cNvPr>
          <p:cNvSpPr txBox="1"/>
          <p:nvPr/>
        </p:nvSpPr>
        <p:spPr>
          <a:xfrm>
            <a:off x="190499" y="4001087"/>
            <a:ext cx="7658101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u="sng" dirty="0"/>
              <a:t>Common Transitions</a:t>
            </a:r>
          </a:p>
          <a:p>
            <a:r>
              <a:rPr lang="en-US" dirty="0"/>
              <a:t>READY → RUNNING: When scheduler picks the thread</a:t>
            </a:r>
          </a:p>
          <a:p>
            <a:r>
              <a:rPr lang="en-US" dirty="0"/>
              <a:t>RUNNING → SLEEPING: Voluntarily sleeps (</a:t>
            </a:r>
            <a:r>
              <a:rPr lang="en-US" dirty="0" err="1"/>
              <a:t>k_sleep</a:t>
            </a:r>
            <a:r>
              <a:rPr lang="en-US" dirty="0"/>
              <a:t>())</a:t>
            </a:r>
          </a:p>
          <a:p>
            <a:r>
              <a:rPr lang="en-US" dirty="0"/>
              <a:t>RUNNING → PENDING: Waiting on a resource (</a:t>
            </a:r>
            <a:r>
              <a:rPr lang="en-US" dirty="0" err="1"/>
              <a:t>k_sem_take</a:t>
            </a:r>
            <a:r>
              <a:rPr lang="en-US" dirty="0"/>
              <a:t>(), </a:t>
            </a:r>
            <a:r>
              <a:rPr lang="en-US" dirty="0" err="1"/>
              <a:t>k_msgq_get</a:t>
            </a:r>
            <a:r>
              <a:rPr lang="en-US" dirty="0"/>
              <a:t>())</a:t>
            </a:r>
          </a:p>
          <a:p>
            <a:r>
              <a:rPr lang="en-US" dirty="0"/>
              <a:t>RUNNING → READY: Yields or gets preempted</a:t>
            </a:r>
          </a:p>
          <a:p>
            <a:r>
              <a:rPr lang="en-US" dirty="0"/>
              <a:t>RUNNING → SUSPENDED: Suspended via </a:t>
            </a:r>
            <a:r>
              <a:rPr lang="en-US" dirty="0" err="1"/>
              <a:t>k_thread_suspend</a:t>
            </a:r>
            <a:r>
              <a:rPr lang="en-US" dirty="0"/>
              <a:t>()</a:t>
            </a:r>
          </a:p>
          <a:p>
            <a:r>
              <a:rPr lang="en-US" dirty="0"/>
              <a:t>ANY → DEAD: Ends naturally or aborted</a:t>
            </a:r>
          </a:p>
          <a:p>
            <a:r>
              <a:rPr lang="en-US" dirty="0"/>
              <a:t>SUSPENDED → READY: Resumed via </a:t>
            </a:r>
            <a:r>
              <a:rPr lang="en-US" dirty="0" err="1"/>
              <a:t>k_thread_resume</a:t>
            </a:r>
            <a:r>
              <a:rPr lang="en-US" dirty="0"/>
              <a:t>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EE9570-EB61-854D-1F34-1264B24796A8}"/>
              </a:ext>
            </a:extLst>
          </p:cNvPr>
          <p:cNvSpPr txBox="1"/>
          <p:nvPr/>
        </p:nvSpPr>
        <p:spPr>
          <a:xfrm>
            <a:off x="4093027" y="151869"/>
            <a:ext cx="3189515" cy="46166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rtl="0"/>
            <a:r>
              <a:rPr lang="en-US" sz="2400" b="1" dirty="0">
                <a:solidFill>
                  <a:srgbClr val="000000"/>
                </a:solidFill>
              </a:rPr>
              <a:t>Threading</a:t>
            </a:r>
            <a:r>
              <a:rPr lang="en-US" sz="2400" b="1" i="0" dirty="0">
                <a:solidFill>
                  <a:srgbClr val="424242"/>
                </a:solidFill>
                <a:effectLst/>
              </a:rPr>
              <a:t> Model</a:t>
            </a:r>
            <a:endParaRPr lang="en-US" sz="240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EDD649-2A1A-1216-720F-6A55C415E58A}"/>
              </a:ext>
            </a:extLst>
          </p:cNvPr>
          <p:cNvSpPr txBox="1"/>
          <p:nvPr/>
        </p:nvSpPr>
        <p:spPr>
          <a:xfrm>
            <a:off x="8392887" y="4001087"/>
            <a:ext cx="3608614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K_USER: User mode thread</a:t>
            </a:r>
          </a:p>
          <a:p>
            <a:endParaRPr lang="en-US" dirty="0"/>
          </a:p>
          <a:p>
            <a:r>
              <a:rPr lang="en-US" dirty="0"/>
              <a:t>K_INHERIT_PERMS: Inherit permissions from parent</a:t>
            </a:r>
          </a:p>
          <a:p>
            <a:endParaRPr lang="en-US" dirty="0"/>
          </a:p>
          <a:p>
            <a:r>
              <a:rPr lang="en-US" dirty="0"/>
              <a:t>K_FP_REGS: Use floating point registers</a:t>
            </a:r>
          </a:p>
        </p:txBody>
      </p:sp>
    </p:spTree>
    <p:extLst>
      <p:ext uri="{BB962C8B-B14F-4D97-AF65-F5344CB8AC3E}">
        <p14:creationId xmlns:p14="http://schemas.microsoft.com/office/powerpoint/2010/main" val="900885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5D6B8-FC92-28BF-034A-EBEF1A4C4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33375C-B178-9958-531B-A5973F70851D}"/>
              </a:ext>
            </a:extLst>
          </p:cNvPr>
          <p:cNvSpPr txBox="1"/>
          <p:nvPr/>
        </p:nvSpPr>
        <p:spPr>
          <a:xfrm>
            <a:off x="3048000" y="2679948"/>
            <a:ext cx="609600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rtl="0"/>
            <a:r>
              <a:rPr lang="en-US" sz="3600" b="1" i="0" dirty="0">
                <a:solidFill>
                  <a:srgbClr val="000000"/>
                </a:solidFill>
                <a:effectLst/>
              </a:rPr>
              <a:t>Scheduling in Zephyr</a:t>
            </a:r>
            <a:endParaRPr lang="en-US" sz="3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93479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CCEA7-D306-EE27-6B8C-B0FF75236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E759DD-667A-0A0F-B1C6-3BACA1E8ADD0}"/>
              </a:ext>
            </a:extLst>
          </p:cNvPr>
          <p:cNvSpPr txBox="1"/>
          <p:nvPr/>
        </p:nvSpPr>
        <p:spPr>
          <a:xfrm>
            <a:off x="217713" y="2335075"/>
            <a:ext cx="60960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b="1" i="0" dirty="0">
                <a:solidFill>
                  <a:srgbClr val="424242"/>
                </a:solidFill>
                <a:effectLst/>
              </a:rPr>
              <a:t>Scheduling Algorithms</a:t>
            </a:r>
            <a:endParaRPr lang="en-US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</a:rPr>
              <a:t>Cooperative and Preemptive Scheduling</a:t>
            </a:r>
            <a:endParaRPr lang="en-US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</a:rPr>
              <a:t>Earliest Deadline First (EDF)</a:t>
            </a:r>
            <a:endParaRPr lang="en-US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</a:rPr>
              <a:t>Meta IRQ scheduling</a:t>
            </a:r>
            <a:r>
              <a:rPr lang="en-US" b="0" i="0" dirty="0">
                <a:solidFill>
                  <a:srgbClr val="000000"/>
                </a:solidFill>
                <a:effectLst/>
              </a:rPr>
              <a:t>: For deferred interrupt handling.</a:t>
            </a:r>
            <a:endParaRPr lang="en-US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</a:rPr>
              <a:t>Timeslicing</a:t>
            </a:r>
            <a:r>
              <a:rPr lang="en-US" b="0" i="0" dirty="0">
                <a:solidFill>
                  <a:srgbClr val="000000"/>
                </a:solidFill>
                <a:effectLst/>
              </a:rPr>
              <a:t>: Among equal-priority preemptible threads.</a:t>
            </a:r>
            <a:endParaRPr lang="en-US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B849FC-F4AC-271B-0CC9-2D4A14704A26}"/>
              </a:ext>
            </a:extLst>
          </p:cNvPr>
          <p:cNvSpPr txBox="1"/>
          <p:nvPr/>
        </p:nvSpPr>
        <p:spPr>
          <a:xfrm>
            <a:off x="348342" y="890147"/>
            <a:ext cx="1094014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/>
            <a:r>
              <a:rPr lang="en-US" b="1" i="0" dirty="0">
                <a:solidFill>
                  <a:srgbClr val="000000"/>
                </a:solidFill>
                <a:effectLst/>
              </a:rPr>
              <a:t>Scheduling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in Zephyr refers to how the </a:t>
            </a:r>
            <a:r>
              <a:rPr lang="en-US" b="1" i="0" dirty="0">
                <a:solidFill>
                  <a:srgbClr val="000000"/>
                </a:solidFill>
                <a:effectLst/>
              </a:rPr>
              <a:t>kernel decides which thread should run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at any given moment. Since Zephyr is a </a:t>
            </a:r>
            <a:r>
              <a:rPr lang="en-US" b="1" i="0" dirty="0">
                <a:solidFill>
                  <a:srgbClr val="000000"/>
                </a:solidFill>
                <a:effectLst/>
              </a:rPr>
              <a:t>real-time operating system (RTOS)</a:t>
            </a:r>
            <a:r>
              <a:rPr lang="en-US" b="0" i="0" dirty="0">
                <a:solidFill>
                  <a:srgbClr val="000000"/>
                </a:solidFill>
                <a:effectLst/>
              </a:rPr>
              <a:t>, its scheduler is designed for </a:t>
            </a:r>
            <a:r>
              <a:rPr lang="en-US" b="1" i="0" dirty="0">
                <a:solidFill>
                  <a:srgbClr val="000000"/>
                </a:solidFill>
                <a:effectLst/>
              </a:rPr>
              <a:t>deterministic, priority-driven, and low-latency decision making</a:t>
            </a:r>
            <a:r>
              <a:rPr lang="en-US" b="0" i="0" dirty="0">
                <a:solidFill>
                  <a:srgbClr val="000000"/>
                </a:solidFill>
                <a:effectLst/>
              </a:rPr>
              <a:t>.</a:t>
            </a:r>
            <a:endParaRPr lang="en-US" dirty="0"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639736-EAD1-8395-9111-0CF6C1135BB4}"/>
              </a:ext>
            </a:extLst>
          </p:cNvPr>
          <p:cNvSpPr txBox="1"/>
          <p:nvPr/>
        </p:nvSpPr>
        <p:spPr>
          <a:xfrm>
            <a:off x="2584903" y="154462"/>
            <a:ext cx="6096000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0000"/>
                </a:solidFill>
              </a:rPr>
              <a:t>Title: Zephyr RTOS - Thread Scheduling</a:t>
            </a:r>
            <a:endParaRPr lang="en-US" sz="2400" dirty="0">
              <a:effectLst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995CD0C-7662-4C37-4169-5BC35C488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340503"/>
              </p:ext>
            </p:extLst>
          </p:nvPr>
        </p:nvGraphicFramePr>
        <p:xfrm>
          <a:off x="348342" y="5442291"/>
          <a:ext cx="11156950" cy="1097280"/>
        </p:xfrm>
        <a:graphic>
          <a:graphicData uri="http://schemas.openxmlformats.org/drawingml/2006/table">
            <a:tbl>
              <a:tblPr/>
              <a:tblGrid>
                <a:gridCol w="2590801">
                  <a:extLst>
                    <a:ext uri="{9D8B030D-6E8A-4147-A177-3AD203B41FA5}">
                      <a16:colId xmlns:a16="http://schemas.microsoft.com/office/drawing/2014/main" val="2841871543"/>
                    </a:ext>
                  </a:extLst>
                </a:gridCol>
                <a:gridCol w="8566149">
                  <a:extLst>
                    <a:ext uri="{9D8B030D-6E8A-4147-A177-3AD203B41FA5}">
                      <a16:colId xmlns:a16="http://schemas.microsoft.com/office/drawing/2014/main" val="367150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539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Preemptive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Automatically preempted if a higher-priority thread is ready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647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Cooperative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Never preempted; must call </a:t>
                      </a:r>
                      <a:r>
                        <a:rPr lang="en-US" dirty="0" err="1"/>
                        <a:t>k_yield</a:t>
                      </a:r>
                      <a:r>
                        <a:rPr lang="en-US" dirty="0"/>
                        <a:t>(), </a:t>
                      </a:r>
                      <a:r>
                        <a:rPr lang="en-US" dirty="0" err="1"/>
                        <a:t>k_sleep</a:t>
                      </a:r>
                      <a:r>
                        <a:rPr lang="en-US" dirty="0"/>
                        <a:t>() or block explicitly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43456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CEF9533-2898-36B9-E0B7-C5457A9D7A54}"/>
              </a:ext>
            </a:extLst>
          </p:cNvPr>
          <p:cNvSpPr txBox="1"/>
          <p:nvPr/>
        </p:nvSpPr>
        <p:spPr>
          <a:xfrm>
            <a:off x="6422571" y="2211286"/>
            <a:ext cx="5638801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Thread Priorities</a:t>
            </a:r>
          </a:p>
          <a:p>
            <a:r>
              <a:rPr lang="en-US" dirty="0"/>
              <a:t>Threads are assigned integer priorities.</a:t>
            </a:r>
          </a:p>
          <a:p>
            <a:r>
              <a:rPr lang="en-US" dirty="0"/>
              <a:t>Lower number = Higher priority</a:t>
            </a:r>
          </a:p>
          <a:p>
            <a:endParaRPr lang="en-US" dirty="0"/>
          </a:p>
          <a:p>
            <a:r>
              <a:rPr lang="en-US" dirty="0"/>
              <a:t>Configurable ranges:</a:t>
            </a:r>
          </a:p>
          <a:p>
            <a:r>
              <a:rPr lang="en-US" dirty="0"/>
              <a:t>Cooperative: 0 to CONFIG_NUM_COOP_PRIORITIES - 1</a:t>
            </a:r>
          </a:p>
          <a:p>
            <a:r>
              <a:rPr lang="en-US" dirty="0"/>
              <a:t>Preemptive: CONFIG_NUM_COOP_PRIORITIES to CONFIG_NUM_COOP_PRIORITIES + CONFIG_NUM_PREEMPT_PRIORITIES - 1</a:t>
            </a:r>
          </a:p>
        </p:txBody>
      </p:sp>
    </p:spTree>
    <p:extLst>
      <p:ext uri="{BB962C8B-B14F-4D97-AF65-F5344CB8AC3E}">
        <p14:creationId xmlns:p14="http://schemas.microsoft.com/office/powerpoint/2010/main" val="24217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EB213-AA40-D1B7-A22D-6A01E524F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AFBE5A-C112-25B7-510A-F335A3BF84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008080"/>
              </p:ext>
            </p:extLst>
          </p:nvPr>
        </p:nvGraphicFramePr>
        <p:xfrm>
          <a:off x="318634" y="1791790"/>
          <a:ext cx="11554732" cy="2987040"/>
        </p:xfrm>
        <a:graphic>
          <a:graphicData uri="http://schemas.openxmlformats.org/drawingml/2006/table">
            <a:tbl>
              <a:tblPr/>
              <a:tblGrid>
                <a:gridCol w="2470847">
                  <a:extLst>
                    <a:ext uri="{9D8B030D-6E8A-4147-A177-3AD203B41FA5}">
                      <a16:colId xmlns:a16="http://schemas.microsoft.com/office/drawing/2014/main" val="1682862944"/>
                    </a:ext>
                  </a:extLst>
                </a:gridCol>
                <a:gridCol w="4261507">
                  <a:extLst>
                    <a:ext uri="{9D8B030D-6E8A-4147-A177-3AD203B41FA5}">
                      <a16:colId xmlns:a16="http://schemas.microsoft.com/office/drawing/2014/main" val="1322209198"/>
                    </a:ext>
                  </a:extLst>
                </a:gridCol>
                <a:gridCol w="4822378">
                  <a:extLst>
                    <a:ext uri="{9D8B030D-6E8A-4147-A177-3AD203B41FA5}">
                      <a16:colId xmlns:a16="http://schemas.microsoft.com/office/drawing/2014/main" val="19467363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Scheduling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Config Option(s)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/>
                        <a:t>Preemptive</a:t>
                      </a:r>
                      <a:endParaRPr lang="en-US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Always runs highest-priority thread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CONFIG_NUM_PREEMPT_PRIORITIES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79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/>
                        <a:t>Cooperative</a:t>
                      </a:r>
                      <a:endParaRPr lang="en-US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Thread must yield voluntarily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CONFIG_NUM_COOP_PRIORITIES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565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/>
                        <a:t>Round-Robin</a:t>
                      </a:r>
                      <a:endParaRPr lang="en-US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Same-priority thread sharing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CONFIG_TIMESLICING, CONFIG_TIMESLICE_SIZE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541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/>
                        <a:t>SMP Scheduling</a:t>
                      </a:r>
                      <a:endParaRPr lang="en-US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Multi-core scheduling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CONFIG_SMP, CONFIG_SCHED_CPU_MASK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673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/>
                        <a:t>Scheduler Lock</a:t>
                      </a:r>
                      <a:endParaRPr lang="en-US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Prevents switching temporarily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k_sched_lock</a:t>
                      </a:r>
                      <a:r>
                        <a:rPr lang="en-US" sz="2000" dirty="0"/>
                        <a:t>(), </a:t>
                      </a:r>
                      <a:r>
                        <a:rPr lang="en-US" sz="2000" dirty="0" err="1"/>
                        <a:t>k_sched_unlock</a:t>
                      </a:r>
                      <a:r>
                        <a:rPr lang="en-US" sz="200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32945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E2BBDE2-92C0-236D-39CC-92C59EF56876}"/>
              </a:ext>
            </a:extLst>
          </p:cNvPr>
          <p:cNvSpPr txBox="1"/>
          <p:nvPr/>
        </p:nvSpPr>
        <p:spPr>
          <a:xfrm>
            <a:off x="2264228" y="403161"/>
            <a:ext cx="6096000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  Types of Scheduling in Zephyr</a:t>
            </a:r>
          </a:p>
        </p:txBody>
      </p:sp>
    </p:spTree>
    <p:extLst>
      <p:ext uri="{BB962C8B-B14F-4D97-AF65-F5344CB8AC3E}">
        <p14:creationId xmlns:p14="http://schemas.microsoft.com/office/powerpoint/2010/main" val="4142443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B4E84-7D25-9175-2A51-6AE16F17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4CF9072-EA3C-43A9-0CDF-677CBE02DD1F}"/>
              </a:ext>
            </a:extLst>
          </p:cNvPr>
          <p:cNvSpPr txBox="1"/>
          <p:nvPr/>
        </p:nvSpPr>
        <p:spPr>
          <a:xfrm>
            <a:off x="2394858" y="316076"/>
            <a:ext cx="6096000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  Types of Scheduling in Zephyr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00F250-4E34-B6B9-ED03-1C90CCF141AA}"/>
              </a:ext>
            </a:extLst>
          </p:cNvPr>
          <p:cNvSpPr txBox="1"/>
          <p:nvPr/>
        </p:nvSpPr>
        <p:spPr>
          <a:xfrm>
            <a:off x="212272" y="1331141"/>
            <a:ext cx="11767456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u="sng" dirty="0"/>
              <a:t>Zephyr Scheduler Behavior with Equal Priorities</a:t>
            </a:r>
          </a:p>
          <a:p>
            <a:endParaRPr lang="en-US" b="1" u="sng" dirty="0"/>
          </a:p>
          <a:p>
            <a:r>
              <a:rPr lang="en-US" b="1" u="sng" dirty="0"/>
              <a:t>Round-Robin Scheduling (if enabled) </a:t>
            </a:r>
            <a:r>
              <a:rPr lang="en-US" dirty="0"/>
              <a:t>::Zephyr will use round-robin time slicing among threads with the same priority. Each thread gets a fixed time slice (default is 10 </a:t>
            </a:r>
            <a:r>
              <a:rPr lang="en-US" dirty="0" err="1"/>
              <a:t>ms</a:t>
            </a:r>
            <a:r>
              <a:rPr lang="en-US" dirty="0"/>
              <a:t>, configurable via CONFIG_TIMESLICE).</a:t>
            </a:r>
          </a:p>
          <a:p>
            <a:r>
              <a:rPr lang="en-US" dirty="0"/>
              <a:t>After its time slice expires, the thread is preempted and the next thread of equal priority runs.</a:t>
            </a:r>
          </a:p>
          <a:p>
            <a:endParaRPr lang="en-US" dirty="0"/>
          </a:p>
          <a:p>
            <a:r>
              <a:rPr lang="en-US" b="1" u="sng" dirty="0"/>
              <a:t>Thread Execution Order :: </a:t>
            </a:r>
            <a:r>
              <a:rPr lang="en-US" dirty="0"/>
              <a:t>The order of execution is not guaranteed unless explicitly synchronized.</a:t>
            </a:r>
          </a:p>
          <a:p>
            <a:r>
              <a:rPr lang="en-US" dirty="0"/>
              <a:t>The thread that gets scheduled first depends on internal kernel timing and creation order.</a:t>
            </a:r>
          </a:p>
          <a:p>
            <a:endParaRPr lang="en-US" dirty="0"/>
          </a:p>
          <a:p>
            <a:r>
              <a:rPr lang="en-US" b="1" u="sng" dirty="0"/>
              <a:t>Cooperative Threads Exception :: </a:t>
            </a:r>
            <a:r>
              <a:rPr lang="en-US" dirty="0"/>
              <a:t>If threads are cooperative (i.e., they don’t yield voluntarily), the scheduler won’t preempt them. You must call </a:t>
            </a:r>
            <a:r>
              <a:rPr lang="en-US" dirty="0" err="1"/>
              <a:t>k_yield</a:t>
            </a:r>
            <a:r>
              <a:rPr lang="en-US" dirty="0"/>
              <a:t>() or </a:t>
            </a:r>
            <a:r>
              <a:rPr lang="en-US" dirty="0" err="1"/>
              <a:t>k_sleep</a:t>
            </a:r>
            <a:r>
              <a:rPr lang="en-US" dirty="0"/>
              <a:t>() to allow others to run.  </a:t>
            </a:r>
          </a:p>
          <a:p>
            <a:endParaRPr lang="en-US" dirty="0"/>
          </a:p>
          <a:p>
            <a:r>
              <a:rPr lang="en-US" b="1" u="sng" dirty="0"/>
              <a:t>Preemptive Threads : </a:t>
            </a:r>
            <a:r>
              <a:rPr lang="en-US" dirty="0"/>
              <a:t>If threads are preemptive (default), the scheduler will automatically switch between them using round-robin.</a:t>
            </a:r>
          </a:p>
        </p:txBody>
      </p:sp>
    </p:spTree>
    <p:extLst>
      <p:ext uri="{BB962C8B-B14F-4D97-AF65-F5344CB8AC3E}">
        <p14:creationId xmlns:p14="http://schemas.microsoft.com/office/powerpoint/2010/main" val="2393010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739321-AC74-F952-89B3-CCE06C3C6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366322"/>
              </p:ext>
            </p:extLst>
          </p:nvPr>
        </p:nvGraphicFramePr>
        <p:xfrm>
          <a:off x="562707" y="1155560"/>
          <a:ext cx="10711544" cy="5422562"/>
        </p:xfrm>
        <a:graphic>
          <a:graphicData uri="http://schemas.openxmlformats.org/drawingml/2006/table">
            <a:tbl>
              <a:tblPr/>
              <a:tblGrid>
                <a:gridCol w="2064936">
                  <a:extLst>
                    <a:ext uri="{9D8B030D-6E8A-4147-A177-3AD203B41FA5}">
                      <a16:colId xmlns:a16="http://schemas.microsoft.com/office/drawing/2014/main" val="311432034"/>
                    </a:ext>
                  </a:extLst>
                </a:gridCol>
                <a:gridCol w="2697984">
                  <a:extLst>
                    <a:ext uri="{9D8B030D-6E8A-4147-A177-3AD203B41FA5}">
                      <a16:colId xmlns:a16="http://schemas.microsoft.com/office/drawing/2014/main" val="2099853044"/>
                    </a:ext>
                  </a:extLst>
                </a:gridCol>
                <a:gridCol w="3647551">
                  <a:extLst>
                    <a:ext uri="{9D8B030D-6E8A-4147-A177-3AD203B41FA5}">
                      <a16:colId xmlns:a16="http://schemas.microsoft.com/office/drawing/2014/main" val="813582820"/>
                    </a:ext>
                  </a:extLst>
                </a:gridCol>
                <a:gridCol w="2301073">
                  <a:extLst>
                    <a:ext uri="{9D8B030D-6E8A-4147-A177-3AD203B41FA5}">
                      <a16:colId xmlns:a16="http://schemas.microsoft.com/office/drawing/2014/main" val="3969902990"/>
                    </a:ext>
                  </a:extLst>
                </a:gridCol>
              </a:tblGrid>
              <a:tr h="341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Feature / Aspect</a:t>
                      </a:r>
                      <a:endParaRPr lang="en-IN" sz="1400"/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Zephyr RTOS</a:t>
                      </a:r>
                      <a:endParaRPr lang="en-IN" sz="1400"/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FreeRTOS</a:t>
                      </a:r>
                      <a:endParaRPr lang="en-IN" sz="1400"/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 err="1"/>
                        <a:t>ThreadX</a:t>
                      </a:r>
                      <a:r>
                        <a:rPr lang="en-IN" sz="1400" b="1" dirty="0"/>
                        <a:t> (Azure RTOS)</a:t>
                      </a:r>
                      <a:endParaRPr lang="en-IN" sz="1400" dirty="0"/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151722"/>
                  </a:ext>
                </a:extLst>
              </a:tr>
              <a:tr h="545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Scheduling Type</a:t>
                      </a:r>
                      <a:endParaRPr lang="en-IN" sz="1400" dirty="0"/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Priority-based, hybrid (</a:t>
                      </a:r>
                      <a:r>
                        <a:rPr lang="en-IN" sz="1400" dirty="0" err="1"/>
                        <a:t>preemptive</a:t>
                      </a:r>
                      <a:r>
                        <a:rPr lang="en-IN" sz="1400" dirty="0"/>
                        <a:t> + cooperative)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Priority-based preemptive (cooperative optional globally)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Priority-based </a:t>
                      </a:r>
                      <a:r>
                        <a:rPr lang="en-IN" sz="1400" dirty="0" err="1"/>
                        <a:t>preemptive</a:t>
                      </a:r>
                      <a:endParaRPr lang="en-IN" sz="1400" dirty="0"/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843219"/>
                  </a:ext>
                </a:extLst>
              </a:tr>
              <a:tr h="472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Cooperative Threads (per thread)</a:t>
                      </a:r>
                      <a:endParaRPr lang="en-IN" sz="1400" dirty="0"/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✅ Yes (individual threads can be cooperative)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❌ No (global cooperative mode only)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 No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631977"/>
                  </a:ext>
                </a:extLst>
              </a:tr>
              <a:tr h="321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Preemptive Threads</a:t>
                      </a:r>
                      <a:endParaRPr lang="en-IN" sz="1400"/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 Supported and default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 Supported and default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 Supported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682390"/>
                  </a:ext>
                </a:extLst>
              </a:tr>
              <a:tr h="48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Scheduler Granularity</a:t>
                      </a:r>
                      <a:endParaRPr lang="en-IN" sz="1400"/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Event-driven (tickless) or tick-based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Tick-based (tickless optional)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Tick-based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590120"/>
                  </a:ext>
                </a:extLst>
              </a:tr>
              <a:tr h="401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Tickless Operation</a:t>
                      </a:r>
                      <a:endParaRPr lang="en-IN" sz="1400"/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 Native support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⚙️ Optional (via config)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⚙️ Optional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495613"/>
                  </a:ext>
                </a:extLst>
              </a:tr>
              <a:tr h="422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Symmetric Multi-Processing (SMP)</a:t>
                      </a:r>
                      <a:endParaRPr lang="en-IN" sz="1400"/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✅ True SMP (shared run queue, thread migration)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⚙️ Limited (available only on SMP branch)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 Not supported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017743"/>
                  </a:ext>
                </a:extLst>
              </a:tr>
              <a:tr h="481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Priority Levels</a:t>
                      </a:r>
                      <a:endParaRPr lang="en-IN" sz="1400"/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Configurable (up to 32 or 64 levels, lower = higher priority)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Up to 256 levels (higher = higher priority)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32 levels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619422"/>
                  </a:ext>
                </a:extLst>
              </a:tr>
              <a:tr h="33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Deterministic Latency</a:t>
                      </a:r>
                      <a:endParaRPr lang="en-IN" sz="1400"/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 Yes (hard real-time capable)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 Yes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 Yes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447785"/>
                  </a:ext>
                </a:extLst>
              </a:tr>
              <a:tr h="3686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Work Queues / Deferred Execution</a:t>
                      </a:r>
                      <a:endParaRPr lang="en-IN" sz="1400"/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 Built-in (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k_work</a:t>
                      </a:r>
                      <a:r>
                        <a:rPr lang="en-IN" sz="1400"/>
                        <a:t>)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⚙️ Manual (using tasks)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⚙️ Requires user setup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359719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Thread Affinity (per CPU)</a:t>
                      </a:r>
                      <a:endParaRPr lang="en-IN" sz="1400"/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 Supported (for SMP)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⚙️ Partial (SMP only)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671726"/>
                  </a:ext>
                </a:extLst>
              </a:tr>
              <a:tr h="287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Thread States</a:t>
                      </a:r>
                      <a:endParaRPr lang="en-IN" sz="1400"/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Ready, Running, Waiting, Suspended, Dead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Ready, Running, Blocked, Suspended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Ready, Running, Blocked, Suspended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1335627"/>
                  </a:ext>
                </a:extLst>
              </a:tr>
              <a:tr h="255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Per-thread Scheduling Policy</a:t>
                      </a:r>
                      <a:endParaRPr lang="en-IN" sz="1400"/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 Yes (preemptive/cooperative mix)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❌ Global only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❌</a:t>
                      </a:r>
                    </a:p>
                  </a:txBody>
                  <a:tcPr marL="16523" marR="16523" marT="8261" marB="8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1313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097BDA6-C425-2679-5CE7-6292DF56C194}"/>
              </a:ext>
            </a:extLst>
          </p:cNvPr>
          <p:cNvSpPr txBox="1"/>
          <p:nvPr/>
        </p:nvSpPr>
        <p:spPr>
          <a:xfrm>
            <a:off x="2625132" y="362969"/>
            <a:ext cx="6094324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Zephyr Scheduler vs Other RTOS Schedulers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1247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4AC01-DCD0-434B-EDA4-312ACCA9F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59970E-E157-4E3D-F5FD-C6A3D5BE287C}"/>
              </a:ext>
            </a:extLst>
          </p:cNvPr>
          <p:cNvSpPr txBox="1"/>
          <p:nvPr/>
        </p:nvSpPr>
        <p:spPr>
          <a:xfrm>
            <a:off x="2869639" y="2956726"/>
            <a:ext cx="5562602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dirty="0"/>
              <a:t> Zephyr RTOS – CPU Idling </a:t>
            </a:r>
          </a:p>
        </p:txBody>
      </p:sp>
    </p:spTree>
    <p:extLst>
      <p:ext uri="{BB962C8B-B14F-4D97-AF65-F5344CB8AC3E}">
        <p14:creationId xmlns:p14="http://schemas.microsoft.com/office/powerpoint/2010/main" val="82056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C2265-01AB-C6D3-4E41-34CB18458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239278-E4B3-EDB4-B5DD-86D52144A605}"/>
              </a:ext>
            </a:extLst>
          </p:cNvPr>
          <p:cNvSpPr txBox="1"/>
          <p:nvPr/>
        </p:nvSpPr>
        <p:spPr>
          <a:xfrm>
            <a:off x="299359" y="893945"/>
            <a:ext cx="11168743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CPU </a:t>
            </a:r>
            <a:r>
              <a:rPr lang="en-US" b="1" dirty="0"/>
              <a:t>idling</a:t>
            </a:r>
            <a:r>
              <a:rPr lang="en-US" dirty="0"/>
              <a:t> is the mechanism by which Zephyr </a:t>
            </a:r>
            <a:r>
              <a:rPr lang="en-US" b="1" dirty="0"/>
              <a:t>puts the processor into a low-power state</a:t>
            </a:r>
            <a:r>
              <a:rPr lang="en-US" dirty="0"/>
              <a:t> when </a:t>
            </a:r>
            <a:r>
              <a:rPr lang="en-US" b="1" dirty="0"/>
              <a:t>no threads are ready to run</a:t>
            </a:r>
            <a:r>
              <a:rPr lang="en-US" dirty="0"/>
              <a:t>.</a:t>
            </a:r>
            <a:endParaRPr lang="en-US" dirty="0">
              <a:effectLst/>
            </a:endParaRPr>
          </a:p>
          <a:p>
            <a:r>
              <a:rPr lang="en-US" dirty="0"/>
              <a:t>When the </a:t>
            </a:r>
            <a:r>
              <a:rPr lang="en-US" b="1" dirty="0"/>
              <a:t>scheduler finds no runnable threads</a:t>
            </a:r>
            <a:r>
              <a:rPr lang="en-US" dirty="0"/>
              <a:t>, instead of spinning or executing dummy code, the kernel </a:t>
            </a:r>
            <a:r>
              <a:rPr lang="en-US" b="1" dirty="0"/>
              <a:t>calls the idle thread</a:t>
            </a:r>
            <a:r>
              <a:rPr lang="en-US" dirty="0"/>
              <a:t>, which can put the CPU in a </a:t>
            </a:r>
            <a:r>
              <a:rPr lang="en-US" b="1" dirty="0"/>
              <a:t>power-saving idle mode</a:t>
            </a:r>
            <a:r>
              <a:rPr lang="en-US" dirty="0"/>
              <a:t> (like WFI, WFE, or </a:t>
            </a:r>
            <a:r>
              <a:rPr lang="en-US" dirty="0" err="1"/>
              <a:t>hlt</a:t>
            </a:r>
            <a:r>
              <a:rPr lang="en-US" dirty="0"/>
              <a:t>, depending on the architecture).</a:t>
            </a:r>
            <a:endParaRPr lang="en-US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79A79C-8505-999C-46FA-3DF99F1B8860}"/>
              </a:ext>
            </a:extLst>
          </p:cNvPr>
          <p:cNvSpPr txBox="1"/>
          <p:nvPr/>
        </p:nvSpPr>
        <p:spPr>
          <a:xfrm>
            <a:off x="3635827" y="206827"/>
            <a:ext cx="556260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 Zephyr RTOS – CPU Idling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1C8AFE-6FD3-B330-6AF2-82682F8481F2}"/>
              </a:ext>
            </a:extLst>
          </p:cNvPr>
          <p:cNvSpPr txBox="1"/>
          <p:nvPr/>
        </p:nvSpPr>
        <p:spPr>
          <a:xfrm>
            <a:off x="299359" y="2752318"/>
            <a:ext cx="6096000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Role of the Idle Thread</a:t>
            </a:r>
          </a:p>
          <a:p>
            <a:r>
              <a:rPr lang="en-US" dirty="0"/>
              <a:t>The idle thread is automatically created by the kernel.</a:t>
            </a:r>
          </a:p>
          <a:p>
            <a:endParaRPr lang="en-US" dirty="0"/>
          </a:p>
          <a:p>
            <a:r>
              <a:rPr lang="en-US" dirty="0"/>
              <a:t>It runs when the scheduler finds no eligible threads.</a:t>
            </a:r>
          </a:p>
          <a:p>
            <a:endParaRPr lang="en-US" dirty="0"/>
          </a:p>
          <a:p>
            <a:r>
              <a:rPr lang="en-US" dirty="0"/>
              <a:t>Default behavior is a busy wait or architecture-specific power-saving instruction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79AD04-C980-99B6-3245-9F9882846CD3}"/>
              </a:ext>
            </a:extLst>
          </p:cNvPr>
          <p:cNvSpPr txBox="1"/>
          <p:nvPr/>
        </p:nvSpPr>
        <p:spPr>
          <a:xfrm>
            <a:off x="6476999" y="2674522"/>
            <a:ext cx="5606145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Key Config Options</a:t>
            </a:r>
          </a:p>
          <a:p>
            <a:r>
              <a:rPr lang="en-US" dirty="0"/>
              <a:t>CONFIG_PM – Enables power management.</a:t>
            </a:r>
          </a:p>
          <a:p>
            <a:endParaRPr lang="en-US" dirty="0"/>
          </a:p>
          <a:p>
            <a:r>
              <a:rPr lang="en-US" dirty="0"/>
              <a:t>CONFIG_SYS_POWER_MANAGEMENT</a:t>
            </a:r>
          </a:p>
          <a:p>
            <a:r>
              <a:rPr lang="en-US" dirty="0"/>
              <a:t> – Enables basic power policies.</a:t>
            </a:r>
          </a:p>
          <a:p>
            <a:endParaRPr lang="en-US" dirty="0"/>
          </a:p>
          <a:p>
            <a:r>
              <a:rPr lang="en-US" dirty="0"/>
              <a:t>CONFIG_TICKLESS_KERNEL – Reduces timer interrupts when idle.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B40130-CEC4-1597-E802-D6127DCCD1CC}"/>
              </a:ext>
            </a:extLst>
          </p:cNvPr>
          <p:cNvSpPr txBox="1"/>
          <p:nvPr/>
        </p:nvSpPr>
        <p:spPr>
          <a:xfrm>
            <a:off x="299359" y="5155309"/>
            <a:ext cx="10983686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Zephyr allows you to customize idle behavior for low-power applications.</a:t>
            </a:r>
          </a:p>
          <a:p>
            <a:endParaRPr lang="en-US" dirty="0"/>
          </a:p>
          <a:p>
            <a:r>
              <a:rPr lang="en-US" dirty="0"/>
              <a:t>Define power management policies using:</a:t>
            </a:r>
          </a:p>
          <a:p>
            <a:r>
              <a:rPr lang="en-US" dirty="0"/>
              <a:t>void </a:t>
            </a:r>
            <a:r>
              <a:rPr lang="en-US" dirty="0" err="1"/>
              <a:t>arch_cpu_idle</a:t>
            </a:r>
            <a:r>
              <a:rPr lang="en-US" dirty="0"/>
              <a:t>(void);</a:t>
            </a:r>
          </a:p>
          <a:p>
            <a:r>
              <a:rPr lang="en-US" dirty="0"/>
              <a:t>void </a:t>
            </a:r>
            <a:r>
              <a:rPr lang="en-US" dirty="0" err="1"/>
              <a:t>arch_cpu_atomic_idle</a:t>
            </a:r>
            <a:r>
              <a:rPr lang="en-US" dirty="0"/>
              <a:t>(unsigned int key);</a:t>
            </a:r>
          </a:p>
        </p:txBody>
      </p:sp>
    </p:spTree>
    <p:extLst>
      <p:ext uri="{BB962C8B-B14F-4D97-AF65-F5344CB8AC3E}">
        <p14:creationId xmlns:p14="http://schemas.microsoft.com/office/powerpoint/2010/main" val="1424412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BA439-8CC1-A08D-B18B-ACFC3DE33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FC988E-983B-D22B-FB9F-F6A0C2FC9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83163"/>
              </p:ext>
            </p:extLst>
          </p:nvPr>
        </p:nvGraphicFramePr>
        <p:xfrm>
          <a:off x="390072" y="999417"/>
          <a:ext cx="11156950" cy="2468880"/>
        </p:xfrm>
        <a:graphic>
          <a:graphicData uri="http://schemas.openxmlformats.org/drawingml/2006/table">
            <a:tbl>
              <a:tblPr/>
              <a:tblGrid>
                <a:gridCol w="3833586">
                  <a:extLst>
                    <a:ext uri="{9D8B030D-6E8A-4147-A177-3AD203B41FA5}">
                      <a16:colId xmlns:a16="http://schemas.microsoft.com/office/drawing/2014/main" val="1110266360"/>
                    </a:ext>
                  </a:extLst>
                </a:gridCol>
                <a:gridCol w="7323364">
                  <a:extLst>
                    <a:ext uri="{9D8B030D-6E8A-4147-A177-3AD203B41FA5}">
                      <a16:colId xmlns:a16="http://schemas.microsoft.com/office/drawing/2014/main" val="2898528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652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Idle Thread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low-priority thread (typically the lowest) that runs when there is nothing else to execute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885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Power Efficiency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Allows the system to conserve energy during idle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5465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Architecture-Specific Instructions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Instructions like WFI (ARM), hlt (x86) are used to enter low-power 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055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Idle Hooks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Custom user-defined behavior during idle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428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Multicore Support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 SMP systems, CPUs can idle independently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4920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ABAB7F1-1E61-A843-A62A-5F0F53190688}"/>
              </a:ext>
            </a:extLst>
          </p:cNvPr>
          <p:cNvSpPr txBox="1"/>
          <p:nvPr/>
        </p:nvSpPr>
        <p:spPr>
          <a:xfrm>
            <a:off x="3048000" y="218105"/>
            <a:ext cx="6096000" cy="5847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/>
              <a:t>   Zephyr RTOS – CPU Idling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272E68E-BF10-FF70-0F41-6AC68AA7D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79717"/>
              </p:ext>
            </p:extLst>
          </p:nvPr>
        </p:nvGraphicFramePr>
        <p:xfrm>
          <a:off x="390072" y="5542615"/>
          <a:ext cx="11156950" cy="1097280"/>
        </p:xfrm>
        <a:graphic>
          <a:graphicData uri="http://schemas.openxmlformats.org/drawingml/2006/table">
            <a:tbl>
              <a:tblPr/>
              <a:tblGrid>
                <a:gridCol w="1768475">
                  <a:extLst>
                    <a:ext uri="{9D8B030D-6E8A-4147-A177-3AD203B41FA5}">
                      <a16:colId xmlns:a16="http://schemas.microsoft.com/office/drawing/2014/main" val="1272496522"/>
                    </a:ext>
                  </a:extLst>
                </a:gridCol>
                <a:gridCol w="9388475">
                  <a:extLst>
                    <a:ext uri="{9D8B030D-6E8A-4147-A177-3AD203B41FA5}">
                      <a16:colId xmlns:a16="http://schemas.microsoft.com/office/drawing/2014/main" val="29513409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Function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What it does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0451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k_cpu_idle()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Immediately enters </a:t>
                      </a:r>
                      <a:r>
                        <a:rPr lang="en-US" b="1" i="0">
                          <a:solidFill>
                            <a:srgbClr val="000000"/>
                          </a:solidFill>
                          <a:effectLst/>
                        </a:rPr>
                        <a:t>idle thread mode</a:t>
                      </a: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 (low power) if </a:t>
                      </a:r>
                      <a:r>
                        <a:rPr lang="en-US" b="1" i="0">
                          <a:solidFill>
                            <a:srgbClr val="000000"/>
                          </a:solidFill>
                          <a:effectLst/>
                        </a:rPr>
                        <a:t>no other threads are ready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526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k_sleep()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b="0" i="0" dirty="0">
                          <a:solidFill>
                            <a:srgbClr val="000000"/>
                          </a:solidFill>
                          <a:effectLst/>
                        </a:rPr>
                        <a:t>Puts the </a:t>
                      </a:r>
                      <a:r>
                        <a:rPr lang="en-US" b="1" i="0" dirty="0">
                          <a:solidFill>
                            <a:srgbClr val="000000"/>
                          </a:solidFill>
                          <a:effectLst/>
                        </a:rPr>
                        <a:t>current thread to sleep</a:t>
                      </a:r>
                      <a:r>
                        <a:rPr lang="en-US" b="0" i="0" dirty="0">
                          <a:solidFill>
                            <a:srgbClr val="000000"/>
                          </a:solidFill>
                          <a:effectLst/>
                        </a:rPr>
                        <a:t>, and allows the </a:t>
                      </a:r>
                      <a:r>
                        <a:rPr lang="en-US" b="1" i="0" dirty="0">
                          <a:solidFill>
                            <a:srgbClr val="000000"/>
                          </a:solidFill>
                          <a:effectLst/>
                        </a:rPr>
                        <a:t>scheduler</a:t>
                      </a:r>
                      <a:r>
                        <a:rPr lang="en-US" b="0" i="0" dirty="0">
                          <a:solidFill>
                            <a:srgbClr val="000000"/>
                          </a:solidFill>
                          <a:effectLst/>
                        </a:rPr>
                        <a:t> to pick other threads (or idle)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30918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9328E87-4240-1FDB-D4D1-AE6AA85ACB4D}"/>
              </a:ext>
            </a:extLst>
          </p:cNvPr>
          <p:cNvSpPr txBox="1"/>
          <p:nvPr/>
        </p:nvSpPr>
        <p:spPr>
          <a:xfrm>
            <a:off x="390072" y="3664834"/>
            <a:ext cx="1115695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Zephyr allows you to customize idle behavior for low-power applications.</a:t>
            </a:r>
          </a:p>
          <a:p>
            <a:endParaRPr lang="en-US" dirty="0"/>
          </a:p>
          <a:p>
            <a:r>
              <a:rPr lang="en-US" dirty="0"/>
              <a:t>Define power management policies using:</a:t>
            </a:r>
          </a:p>
          <a:p>
            <a:r>
              <a:rPr lang="en-US" dirty="0"/>
              <a:t>void </a:t>
            </a:r>
            <a:r>
              <a:rPr lang="en-US" dirty="0" err="1"/>
              <a:t>arch_cpu_idle</a:t>
            </a:r>
            <a:r>
              <a:rPr lang="en-US" dirty="0"/>
              <a:t>(void);</a:t>
            </a:r>
          </a:p>
          <a:p>
            <a:r>
              <a:rPr lang="en-US" dirty="0"/>
              <a:t>void </a:t>
            </a:r>
            <a:r>
              <a:rPr lang="en-US" dirty="0" err="1"/>
              <a:t>arch_cpu_atomic_idle</a:t>
            </a:r>
            <a:r>
              <a:rPr lang="en-US" dirty="0"/>
              <a:t>(unsigned int key);</a:t>
            </a:r>
          </a:p>
        </p:txBody>
      </p:sp>
    </p:spTree>
    <p:extLst>
      <p:ext uri="{BB962C8B-B14F-4D97-AF65-F5344CB8AC3E}">
        <p14:creationId xmlns:p14="http://schemas.microsoft.com/office/powerpoint/2010/main" val="2640694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8E153-9569-C22F-2DC1-6C8C0999E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A2E924-6AE7-6A70-644C-830E96064AD4}"/>
              </a:ext>
            </a:extLst>
          </p:cNvPr>
          <p:cNvSpPr txBox="1"/>
          <p:nvPr/>
        </p:nvSpPr>
        <p:spPr>
          <a:xfrm>
            <a:off x="3048000" y="2679948"/>
            <a:ext cx="609600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600" b="1" dirty="0"/>
              <a:t>Zephyr System Threads</a:t>
            </a:r>
          </a:p>
        </p:txBody>
      </p:sp>
    </p:spTree>
    <p:extLst>
      <p:ext uri="{BB962C8B-B14F-4D97-AF65-F5344CB8AC3E}">
        <p14:creationId xmlns:p14="http://schemas.microsoft.com/office/powerpoint/2010/main" val="3797130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63D67-462D-5FA8-3AB7-E8934648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4FFFF8-AACB-1BF0-6646-ABECF9DB0437}"/>
              </a:ext>
            </a:extLst>
          </p:cNvPr>
          <p:cNvSpPr txBox="1"/>
          <p:nvPr/>
        </p:nvSpPr>
        <p:spPr>
          <a:xfrm>
            <a:off x="3006050" y="103407"/>
            <a:ext cx="4884234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      Zephyr System Threads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AAADA-236E-A9C5-03CC-D376242E375F}"/>
              </a:ext>
            </a:extLst>
          </p:cNvPr>
          <p:cNvSpPr txBox="1"/>
          <p:nvPr/>
        </p:nvSpPr>
        <p:spPr>
          <a:xfrm>
            <a:off x="408878" y="712407"/>
            <a:ext cx="11374244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System threads are built-in kernel threads that provide background services needed by the OS itself. Unlike application threads (which you create with </a:t>
            </a:r>
            <a:r>
              <a:rPr lang="en-US" dirty="0" err="1"/>
              <a:t>k_thread_create</a:t>
            </a:r>
            <a:r>
              <a:rPr lang="en-US" dirty="0"/>
              <a:t>()), system threads are: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Special kernel-created threads.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Run essential background services.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Not created by the application developer.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C524C0F-1579-C045-2933-2CBE984D3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479487"/>
              </p:ext>
            </p:extLst>
          </p:nvPr>
        </p:nvGraphicFramePr>
        <p:xfrm>
          <a:off x="408878" y="2935492"/>
          <a:ext cx="11156950" cy="2926080"/>
        </p:xfrm>
        <a:graphic>
          <a:graphicData uri="http://schemas.openxmlformats.org/drawingml/2006/table">
            <a:tbl>
              <a:tblPr/>
              <a:tblGrid>
                <a:gridCol w="3172522">
                  <a:extLst>
                    <a:ext uri="{9D8B030D-6E8A-4147-A177-3AD203B41FA5}">
                      <a16:colId xmlns:a16="http://schemas.microsoft.com/office/drawing/2014/main" val="3218956965"/>
                    </a:ext>
                  </a:extLst>
                </a:gridCol>
                <a:gridCol w="7984428">
                  <a:extLst>
                    <a:ext uri="{9D8B030D-6E8A-4147-A177-3AD203B41FA5}">
                      <a16:colId xmlns:a16="http://schemas.microsoft.com/office/drawing/2014/main" val="3958892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System Thread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745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main thread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Entry point for the application. Runs main()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82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idle thread(s)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Always present; runs when no other threads are ready. Enters CPU idle state.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795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logging thread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Processes deferred logging if CONFIG_LOG_PROCESS_THREAD is enabled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567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system workqueue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Processes work submitted to the kernel </a:t>
                      </a:r>
                      <a:r>
                        <a:rPr lang="en-US" dirty="0" err="1"/>
                        <a:t>workqueue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161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init thread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Runs initialization routines post-boot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667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shell thread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Runs command-line interface if the shell is enabled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782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Bluetooth threads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BT is enabled, there may be threads like </a:t>
                      </a:r>
                      <a:r>
                        <a:rPr lang="en-US" dirty="0" err="1"/>
                        <a:t>bt_rx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bt_tx</a:t>
                      </a:r>
                      <a:r>
                        <a:rPr lang="en-US" dirty="0"/>
                        <a:t>, etc.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990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8311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36C6A-05FD-06AB-EF8D-FCBBA8532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11CDB6-1361-91B4-D138-D6778F3C999A}"/>
              </a:ext>
            </a:extLst>
          </p:cNvPr>
          <p:cNvSpPr txBox="1"/>
          <p:nvPr/>
        </p:nvSpPr>
        <p:spPr>
          <a:xfrm>
            <a:off x="2721428" y="154462"/>
            <a:ext cx="609600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/>
              <a:t>         Zephyr System Threads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04F31D-2CC0-7648-E8C4-9D5A8BD75F42}"/>
              </a:ext>
            </a:extLst>
          </p:cNvPr>
          <p:cNvSpPr txBox="1"/>
          <p:nvPr/>
        </p:nvSpPr>
        <p:spPr>
          <a:xfrm>
            <a:off x="185056" y="1528427"/>
            <a:ext cx="6096001" cy="43396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u="sng" dirty="0"/>
              <a:t>Core System Threads</a:t>
            </a:r>
          </a:p>
          <a:p>
            <a:r>
              <a:rPr lang="en-US" b="1" dirty="0"/>
              <a:t>Idle Thread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Runs when no other thread is ready.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Enters low power state using </a:t>
            </a:r>
            <a:r>
              <a:rPr lang="en-US" dirty="0" err="1"/>
              <a:t>k_cpu_idle</a:t>
            </a:r>
            <a:r>
              <a:rPr lang="en-US" dirty="0"/>
              <a:t>().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One per core (in SMP systems).</a:t>
            </a:r>
          </a:p>
          <a:p>
            <a:endParaRPr lang="en-US" dirty="0"/>
          </a:p>
          <a:p>
            <a:r>
              <a:rPr lang="en-US" b="1" dirty="0"/>
              <a:t>Logger Thread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Handles deferred logging.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Prevents logging from blocking ISR or main thread.</a:t>
            </a:r>
          </a:p>
          <a:p>
            <a:endParaRPr lang="en-US" dirty="0"/>
          </a:p>
          <a:p>
            <a:r>
              <a:rPr lang="en-US" b="1" dirty="0" err="1"/>
              <a:t>Workqueue</a:t>
            </a:r>
            <a:r>
              <a:rPr lang="en-US" b="1" dirty="0"/>
              <a:t> Threads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System </a:t>
            </a:r>
            <a:r>
              <a:rPr lang="en-US" dirty="0" err="1"/>
              <a:t>workqueue</a:t>
            </a:r>
            <a:r>
              <a:rPr lang="en-US" dirty="0"/>
              <a:t> (</a:t>
            </a:r>
            <a:r>
              <a:rPr lang="en-US" dirty="0" err="1"/>
              <a:t>k_sys_work_q</a:t>
            </a:r>
            <a:r>
              <a:rPr lang="en-US" dirty="0"/>
              <a:t>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Used for offloading tasks from ISRs or co-operative threads.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5E76BF-9E88-4F64-9F7D-3FD4F732F614}"/>
              </a:ext>
            </a:extLst>
          </p:cNvPr>
          <p:cNvSpPr txBox="1"/>
          <p:nvPr/>
        </p:nvSpPr>
        <p:spPr>
          <a:xfrm>
            <a:off x="6738257" y="1528427"/>
            <a:ext cx="5094514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u="sng" dirty="0"/>
              <a:t>Optional System Threads</a:t>
            </a:r>
          </a:p>
          <a:p>
            <a:endParaRPr lang="en-US" b="1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Shell thread (if shell subsystem is enabled).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Bluetooth stack threads (if BT is enabled).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Networking threads (e.g., </a:t>
            </a:r>
            <a:r>
              <a:rPr lang="en-US" b="1" dirty="0" err="1"/>
              <a:t>net_mgmt</a:t>
            </a:r>
            <a:r>
              <a:rPr lang="en-US" b="1" dirty="0"/>
              <a:t>, </a:t>
            </a:r>
            <a:r>
              <a:rPr lang="en-US" b="1" dirty="0" err="1"/>
              <a:t>net_rx</a:t>
            </a:r>
            <a:r>
              <a:rPr lang="en-US" b="1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60849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1F7A2-8F53-8A90-8F21-5B328C915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4419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51054-9A14-E3F1-BF13-375C8A7F7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63CF62-E198-71A5-C251-13AAE3D0339B}"/>
              </a:ext>
            </a:extLst>
          </p:cNvPr>
          <p:cNvSpPr txBox="1"/>
          <p:nvPr/>
        </p:nvSpPr>
        <p:spPr>
          <a:xfrm>
            <a:off x="3048000" y="2679948"/>
            <a:ext cx="609600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3600" b="1" dirty="0"/>
              <a:t>Work Queues in Zephyr</a:t>
            </a:r>
          </a:p>
        </p:txBody>
      </p:sp>
    </p:spTree>
    <p:extLst>
      <p:ext uri="{BB962C8B-B14F-4D97-AF65-F5344CB8AC3E}">
        <p14:creationId xmlns:p14="http://schemas.microsoft.com/office/powerpoint/2010/main" val="2192372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AC9BD-CF66-59DA-9255-476E33B67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446B46-9317-739E-290D-7BE1ACA99C15}"/>
              </a:ext>
            </a:extLst>
          </p:cNvPr>
          <p:cNvSpPr txBox="1"/>
          <p:nvPr/>
        </p:nvSpPr>
        <p:spPr>
          <a:xfrm>
            <a:off x="2623458" y="87477"/>
            <a:ext cx="6096000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Work queues in Zephyr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35BB0F-5F33-ABD6-A925-5BABADAD9046}"/>
              </a:ext>
            </a:extLst>
          </p:cNvPr>
          <p:cNvSpPr txBox="1"/>
          <p:nvPr/>
        </p:nvSpPr>
        <p:spPr>
          <a:xfrm>
            <a:off x="239485" y="785336"/>
            <a:ext cx="11800115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err="1"/>
              <a:t>Workqueues</a:t>
            </a:r>
            <a:r>
              <a:rPr lang="en-US" dirty="0"/>
              <a:t> in Zephyr are </a:t>
            </a:r>
            <a:r>
              <a:rPr lang="en-US" b="1" dirty="0"/>
              <a:t>mechanisms for deferring work</a:t>
            </a:r>
            <a:r>
              <a:rPr lang="en-US" dirty="0"/>
              <a:t> to be executed </a:t>
            </a:r>
            <a:r>
              <a:rPr lang="en-US" b="1" dirty="0"/>
              <a:t>outside of interrupt context</a:t>
            </a:r>
            <a:r>
              <a:rPr lang="en-US" dirty="0"/>
              <a:t>, typically in a </a:t>
            </a:r>
            <a:r>
              <a:rPr lang="en-US" b="1" dirty="0"/>
              <a:t>dedicated thread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 </a:t>
            </a:r>
            <a:r>
              <a:rPr lang="en-US" dirty="0" err="1"/>
              <a:t>workqueue</a:t>
            </a:r>
            <a:r>
              <a:rPr lang="en-US" dirty="0"/>
              <a:t> is a kernel feature for deferring work to be processed later by a thread.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Useful for moving work out of ISRs or off the critical path.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Helps in keeping ISRs fast and deterministic.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535678-7278-9CE9-A47C-D01071F6D363}"/>
              </a:ext>
            </a:extLst>
          </p:cNvPr>
          <p:cNvSpPr txBox="1"/>
          <p:nvPr/>
        </p:nvSpPr>
        <p:spPr>
          <a:xfrm>
            <a:off x="239486" y="2908556"/>
            <a:ext cx="5442858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u="sng" dirty="0"/>
              <a:t>Why Use </a:t>
            </a:r>
            <a:r>
              <a:rPr lang="en-US" sz="2400" b="1" u="sng" dirty="0" err="1"/>
              <a:t>Workqueues</a:t>
            </a:r>
            <a:r>
              <a:rPr lang="en-US" sz="2400" b="1" u="sng" dirty="0"/>
              <a:t>?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Offload long-running tasks from interrupt context.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Allow asynchronous task execution.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Efficient resource utilization.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Maintains real-time system responsiveness.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Processing events asynchronously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Resource-controlled background jobs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3FC94F-60A1-DC95-D4E5-F0B036229919}"/>
              </a:ext>
            </a:extLst>
          </p:cNvPr>
          <p:cNvSpPr txBox="1"/>
          <p:nvPr/>
        </p:nvSpPr>
        <p:spPr>
          <a:xfrm>
            <a:off x="5998028" y="3006528"/>
            <a:ext cx="6096000" cy="24929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u="sng" dirty="0"/>
              <a:t>How </a:t>
            </a:r>
            <a:r>
              <a:rPr lang="en-US" sz="2400" b="1" u="sng" dirty="0" err="1"/>
              <a:t>Workqueue</a:t>
            </a:r>
            <a:r>
              <a:rPr lang="en-US" sz="2400" b="1" u="sng" dirty="0"/>
              <a:t> Works</a:t>
            </a:r>
          </a:p>
          <a:p>
            <a:endParaRPr lang="en-US" sz="2400" b="1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Application/ISR submits work using </a:t>
            </a:r>
            <a:r>
              <a:rPr lang="en-US" dirty="0" err="1"/>
              <a:t>k_work_submit</a:t>
            </a:r>
            <a:r>
              <a:rPr lang="en-US" dirty="0"/>
              <a:t>()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Workqueue</a:t>
            </a:r>
            <a:r>
              <a:rPr lang="en-US" dirty="0"/>
              <a:t> thread dequeues and runs the handler function.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Supports both immediate and delayed execution.</a:t>
            </a:r>
          </a:p>
        </p:txBody>
      </p:sp>
    </p:spTree>
    <p:extLst>
      <p:ext uri="{BB962C8B-B14F-4D97-AF65-F5344CB8AC3E}">
        <p14:creationId xmlns:p14="http://schemas.microsoft.com/office/powerpoint/2010/main" val="209036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A1A09F-7E56-B89E-B9B7-D2E438E98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006C8-6927-755A-E37B-47D72576E03A}"/>
              </a:ext>
            </a:extLst>
          </p:cNvPr>
          <p:cNvSpPr txBox="1"/>
          <p:nvPr/>
        </p:nvSpPr>
        <p:spPr>
          <a:xfrm>
            <a:off x="517869" y="1000768"/>
            <a:ext cx="3150617" cy="124168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2500"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Core APIs in Zephyr </a:t>
            </a:r>
            <a:r>
              <a:rPr lang="en-US" sz="2800" b="1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Workqueue</a:t>
            </a:r>
            <a:endParaRPr lang="en-US" sz="28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2278484-8AB0-C8BE-5A8C-AD504879F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924606"/>
              </p:ext>
            </p:extLst>
          </p:nvPr>
        </p:nvGraphicFramePr>
        <p:xfrm>
          <a:off x="3940629" y="1000768"/>
          <a:ext cx="7730455" cy="4784670"/>
        </p:xfrm>
        <a:graphic>
          <a:graphicData uri="http://schemas.openxmlformats.org/drawingml/2006/table">
            <a:tbl>
              <a:tblPr/>
              <a:tblGrid>
                <a:gridCol w="3727074">
                  <a:extLst>
                    <a:ext uri="{9D8B030D-6E8A-4147-A177-3AD203B41FA5}">
                      <a16:colId xmlns:a16="http://schemas.microsoft.com/office/drawing/2014/main" val="672005919"/>
                    </a:ext>
                  </a:extLst>
                </a:gridCol>
                <a:gridCol w="4003381">
                  <a:extLst>
                    <a:ext uri="{9D8B030D-6E8A-4147-A177-3AD203B41FA5}">
                      <a16:colId xmlns:a16="http://schemas.microsoft.com/office/drawing/2014/main" val="537723179"/>
                    </a:ext>
                  </a:extLst>
                </a:gridCol>
              </a:tblGrid>
              <a:tr h="4784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API</a:t>
                      </a:r>
                    </a:p>
                  </a:txBody>
                  <a:tcPr marL="104847" marR="104847" marT="52424" marB="5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</a:p>
                  </a:txBody>
                  <a:tcPr marL="104847" marR="104847" marT="52424" marB="5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648987"/>
                  </a:ext>
                </a:extLst>
              </a:tr>
              <a:tr h="4784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k_work_init()</a:t>
                      </a:r>
                    </a:p>
                  </a:txBody>
                  <a:tcPr marL="104847" marR="104847" marT="52424" marB="5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Initializes a work item</a:t>
                      </a:r>
                    </a:p>
                  </a:txBody>
                  <a:tcPr marL="104847" marR="104847" marT="52424" marB="5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285381"/>
                  </a:ext>
                </a:extLst>
              </a:tr>
              <a:tr h="4784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 dirty="0" err="1">
                          <a:effectLst/>
                          <a:latin typeface="Arial" panose="020B0604020202020204" pitchFamily="34" charset="0"/>
                        </a:rPr>
                        <a:t>k_work_submit</a:t>
                      </a:r>
                      <a:r>
                        <a:rPr lang="en-US" sz="2100" b="0" i="0" u="none" strike="noStrike" dirty="0">
                          <a:effectLst/>
                          <a:latin typeface="Arial" panose="020B0604020202020204" pitchFamily="34" charset="0"/>
                        </a:rPr>
                        <a:t>()</a:t>
                      </a:r>
                    </a:p>
                  </a:txBody>
                  <a:tcPr marL="104847" marR="104847" marT="52424" marB="5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Submit work to a queue</a:t>
                      </a:r>
                    </a:p>
                  </a:txBody>
                  <a:tcPr marL="104847" marR="104847" marT="52424" marB="5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340143"/>
                  </a:ext>
                </a:extLst>
              </a:tr>
              <a:tr h="4784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k_work_q_start()</a:t>
                      </a:r>
                    </a:p>
                  </a:txBody>
                  <a:tcPr marL="104847" marR="104847" marT="52424" marB="5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Start a custom workqueue</a:t>
                      </a:r>
                    </a:p>
                  </a:txBody>
                  <a:tcPr marL="104847" marR="104847" marT="52424" marB="5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706742"/>
                  </a:ext>
                </a:extLst>
              </a:tr>
              <a:tr h="4784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k_work_flush()</a:t>
                      </a:r>
                    </a:p>
                  </a:txBody>
                  <a:tcPr marL="104847" marR="104847" marT="52424" marB="5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Wait until work completes</a:t>
                      </a:r>
                    </a:p>
                  </a:txBody>
                  <a:tcPr marL="104847" marR="104847" marT="52424" marB="5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789094"/>
                  </a:ext>
                </a:extLst>
              </a:tr>
              <a:tr h="4784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k_work_cancel()</a:t>
                      </a:r>
                    </a:p>
                  </a:txBody>
                  <a:tcPr marL="104847" marR="104847" marT="52424" marB="5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 dirty="0">
                          <a:effectLst/>
                          <a:latin typeface="Arial" panose="020B0604020202020204" pitchFamily="34" charset="0"/>
                        </a:rPr>
                        <a:t>Cancel a submitted work item</a:t>
                      </a:r>
                    </a:p>
                  </a:txBody>
                  <a:tcPr marL="104847" marR="104847" marT="52424" marB="5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067043"/>
                  </a:ext>
                </a:extLst>
              </a:tr>
              <a:tr h="4784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k_work_delayable_init()</a:t>
                      </a:r>
                    </a:p>
                  </a:txBody>
                  <a:tcPr marL="104847" marR="104847" marT="52424" marB="5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Initialize delayable work</a:t>
                      </a:r>
                    </a:p>
                  </a:txBody>
                  <a:tcPr marL="104847" marR="104847" marT="52424" marB="5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5061"/>
                  </a:ext>
                </a:extLst>
              </a:tr>
              <a:tr h="4784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k_work_schedule()</a:t>
                      </a:r>
                    </a:p>
                  </a:txBody>
                  <a:tcPr marL="104847" marR="104847" marT="52424" marB="5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Schedule delayable work</a:t>
                      </a:r>
                    </a:p>
                  </a:txBody>
                  <a:tcPr marL="104847" marR="104847" marT="52424" marB="5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5911"/>
                  </a:ext>
                </a:extLst>
              </a:tr>
              <a:tr h="4784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k_work_reschedule()</a:t>
                      </a:r>
                    </a:p>
                  </a:txBody>
                  <a:tcPr marL="104847" marR="104847" marT="52424" marB="5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Reschedule delayed work</a:t>
                      </a:r>
                    </a:p>
                  </a:txBody>
                  <a:tcPr marL="104847" marR="104847" marT="52424" marB="5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690176"/>
                  </a:ext>
                </a:extLst>
              </a:tr>
              <a:tr h="4784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k_work_cancel_delayable()</a:t>
                      </a:r>
                    </a:p>
                  </a:txBody>
                  <a:tcPr marL="104847" marR="104847" marT="52424" marB="5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 dirty="0">
                          <a:effectLst/>
                          <a:latin typeface="Arial" panose="020B0604020202020204" pitchFamily="34" charset="0"/>
                        </a:rPr>
                        <a:t>Cancel delayable work</a:t>
                      </a:r>
                    </a:p>
                  </a:txBody>
                  <a:tcPr marL="104847" marR="104847" marT="52424" marB="52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472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5575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0D80D-E282-872F-20DF-8D69D8DA1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5BF15A-E933-CC4B-0496-01FA333F2347}"/>
              </a:ext>
            </a:extLst>
          </p:cNvPr>
          <p:cNvSpPr txBox="1"/>
          <p:nvPr/>
        </p:nvSpPr>
        <p:spPr>
          <a:xfrm>
            <a:off x="3048000" y="2679948"/>
            <a:ext cx="6096000" cy="12003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600" dirty="0"/>
              <a:t>Threads Without Kernel Thread Context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45038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7A0D6-9467-A5DF-8F63-386EFCAE2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74A6C3-8294-6697-FA36-7180A169433D}"/>
              </a:ext>
            </a:extLst>
          </p:cNvPr>
          <p:cNvSpPr txBox="1"/>
          <p:nvPr/>
        </p:nvSpPr>
        <p:spPr>
          <a:xfrm>
            <a:off x="2373086" y="141904"/>
            <a:ext cx="6096000" cy="46166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Threads Without Kernel Thread Context</a:t>
            </a:r>
            <a:endParaRPr 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A9A341-AFD3-90AA-46B5-B606906425A7}"/>
              </a:ext>
            </a:extLst>
          </p:cNvPr>
          <p:cNvSpPr txBox="1"/>
          <p:nvPr/>
        </p:nvSpPr>
        <p:spPr>
          <a:xfrm>
            <a:off x="315687" y="769595"/>
            <a:ext cx="11277600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Zephyr allows some functionality without using full kernel threads, Useful for memory-constrained systems or bare-metal initialization,  Operates before scheduler is started or outside kernel context</a:t>
            </a:r>
          </a:p>
          <a:p>
            <a:endParaRPr lang="en-US" dirty="0"/>
          </a:p>
          <a:p>
            <a:r>
              <a:rPr lang="en-US" dirty="0"/>
              <a:t>No thread context means code runs outside of </a:t>
            </a:r>
            <a:r>
              <a:rPr lang="en-US" dirty="0" err="1"/>
              <a:t>k_thread</a:t>
            </a:r>
            <a:r>
              <a:rPr lang="en-US" dirty="0"/>
              <a:t>-based execution</a:t>
            </a:r>
          </a:p>
          <a:p>
            <a:endParaRPr lang="en-US" b="1" dirty="0"/>
          </a:p>
          <a:p>
            <a:r>
              <a:rPr lang="en-US" b="1" dirty="0"/>
              <a:t>Typically in: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Early boot (pre-kernel)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Interrupts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Exception handlers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Main() before kernel is started</a:t>
            </a:r>
          </a:p>
          <a:p>
            <a:endParaRPr lang="en-US" dirty="0"/>
          </a:p>
          <a:p>
            <a:r>
              <a:rPr lang="en-US" dirty="0"/>
              <a:t>With CONFIG_MULTITHREADING=n.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5F4EBA-A8AF-0284-AF96-036B3BAB7FC3}"/>
              </a:ext>
            </a:extLst>
          </p:cNvPr>
          <p:cNvSpPr txBox="1"/>
          <p:nvPr/>
        </p:nvSpPr>
        <p:spPr>
          <a:xfrm>
            <a:off x="435429" y="4761916"/>
            <a:ext cx="9601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When you disable multithreading: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Zephyr runs only the main()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scheduler, no kernel threads, no ISRs spawning threads.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Your program becomes single-threaded, like a bare-metal loop.</a:t>
            </a:r>
          </a:p>
        </p:txBody>
      </p:sp>
    </p:spTree>
    <p:extLst>
      <p:ext uri="{BB962C8B-B14F-4D97-AF65-F5344CB8AC3E}">
        <p14:creationId xmlns:p14="http://schemas.microsoft.com/office/powerpoint/2010/main" val="27558350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294ED-9AFA-ED19-9359-7AD1B56DB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F7B635-DDAC-5027-425E-FEA2A5237104}"/>
              </a:ext>
            </a:extLst>
          </p:cNvPr>
          <p:cNvSpPr txBox="1"/>
          <p:nvPr/>
        </p:nvSpPr>
        <p:spPr>
          <a:xfrm>
            <a:off x="1491341" y="238351"/>
            <a:ext cx="8958943" cy="5232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/>
              <a:t>Threads Without Kernel Thread Context</a:t>
            </a:r>
            <a:endParaRPr lang="en-US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1DE40-73A7-99AC-88A0-B619AD0F7F58}"/>
              </a:ext>
            </a:extLst>
          </p:cNvPr>
          <p:cNvSpPr txBox="1"/>
          <p:nvPr/>
        </p:nvSpPr>
        <p:spPr>
          <a:xfrm>
            <a:off x="359229" y="4244876"/>
            <a:ext cx="4811486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Examples of No-Thread Context Execution</a:t>
            </a:r>
          </a:p>
          <a:p>
            <a:r>
              <a:rPr lang="en-US" dirty="0"/>
              <a:t>main() function before </a:t>
            </a:r>
            <a:r>
              <a:rPr lang="en-US" dirty="0" err="1"/>
              <a:t>kernel_init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Static initializations via SYS_INIT()</a:t>
            </a:r>
          </a:p>
          <a:p>
            <a:endParaRPr lang="en-US" dirty="0"/>
          </a:p>
          <a:p>
            <a:r>
              <a:rPr lang="en-US" dirty="0"/>
              <a:t>ISR handlers (Interrupt Service Routines)</a:t>
            </a:r>
          </a:p>
          <a:p>
            <a:endParaRPr lang="en-US" dirty="0"/>
          </a:p>
          <a:p>
            <a:r>
              <a:rPr lang="en-US" dirty="0"/>
              <a:t>Exception handling (e.g., fault handlers)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166CED-2B86-C5BE-FFFA-536D1796450E}"/>
              </a:ext>
            </a:extLst>
          </p:cNvPr>
          <p:cNvSpPr txBox="1"/>
          <p:nvPr/>
        </p:nvSpPr>
        <p:spPr>
          <a:xfrm>
            <a:off x="359228" y="1079757"/>
            <a:ext cx="10853057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SYS_INIT() Macros   Used to run code early in the boot process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static int </a:t>
            </a:r>
            <a:r>
              <a:rPr lang="en-US" dirty="0" err="1"/>
              <a:t>my_init_fn</a:t>
            </a:r>
            <a:r>
              <a:rPr lang="en-US" dirty="0"/>
              <a:t>(const struct device *dev) {</a:t>
            </a:r>
          </a:p>
          <a:p>
            <a:r>
              <a:rPr lang="en-US" dirty="0"/>
              <a:t>    // early </a:t>
            </a:r>
            <a:r>
              <a:rPr lang="en-US" dirty="0" err="1"/>
              <a:t>init</a:t>
            </a:r>
            <a:r>
              <a:rPr lang="en-US" dirty="0"/>
              <a:t> logic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SYS_INIT(</a:t>
            </a:r>
            <a:r>
              <a:rPr lang="en-US" dirty="0" err="1"/>
              <a:t>my_init_fn</a:t>
            </a:r>
            <a:r>
              <a:rPr lang="en-US" dirty="0"/>
              <a:t>, APPLICATION, CONFIG_APPLICATION_INIT_PRIORITY);</a:t>
            </a:r>
          </a:p>
          <a:p>
            <a:r>
              <a:rPr lang="en-US" dirty="0"/>
              <a:t>Different stages: PRE_KERNEL_1, PRE_KERNEL_2, POST_KERNEL, APPLICATION</a:t>
            </a:r>
          </a:p>
        </p:txBody>
      </p:sp>
    </p:spTree>
    <p:extLst>
      <p:ext uri="{BB962C8B-B14F-4D97-AF65-F5344CB8AC3E}">
        <p14:creationId xmlns:p14="http://schemas.microsoft.com/office/powerpoint/2010/main" val="34564744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AFD94-3784-8197-596D-4F7E3D6A3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584544-0894-0B22-0943-0CF797AE9993}"/>
              </a:ext>
            </a:extLst>
          </p:cNvPr>
          <p:cNvSpPr txBox="1"/>
          <p:nvPr/>
        </p:nvSpPr>
        <p:spPr>
          <a:xfrm>
            <a:off x="3048000" y="2679948"/>
            <a:ext cx="6096000" cy="12003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600" dirty="0"/>
              <a:t>Zephyr RTOS — Interrupt Services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6524177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5913F-0C4F-467D-AA27-AB5BF774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B92116-0589-F7A5-E93D-2EE7EA68A670}"/>
              </a:ext>
            </a:extLst>
          </p:cNvPr>
          <p:cNvSpPr txBox="1"/>
          <p:nvPr/>
        </p:nvSpPr>
        <p:spPr>
          <a:xfrm>
            <a:off x="1589314" y="176234"/>
            <a:ext cx="9013371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600" dirty="0"/>
              <a:t>Zephyr RTOS — Interrupt Services</a:t>
            </a:r>
            <a:endParaRPr lang="en-US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FCCD4B-3DBD-890A-32B9-02D6F3E721DF}"/>
              </a:ext>
            </a:extLst>
          </p:cNvPr>
          <p:cNvSpPr txBox="1"/>
          <p:nvPr/>
        </p:nvSpPr>
        <p:spPr>
          <a:xfrm>
            <a:off x="391886" y="1108064"/>
            <a:ext cx="109728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Interrupt :: </a:t>
            </a:r>
            <a:r>
              <a:rPr lang="en-US" dirty="0"/>
              <a:t>Asynchronous event triggered by hardware or software. Used to preempt current execution to handle critical tasks.   Common in embedded systems for sensors, timers, buttons, etc.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8D438-56FA-ACE5-172F-B5634C3E771B}"/>
              </a:ext>
            </a:extLst>
          </p:cNvPr>
          <p:cNvSpPr txBox="1"/>
          <p:nvPr/>
        </p:nvSpPr>
        <p:spPr>
          <a:xfrm>
            <a:off x="206829" y="2089981"/>
            <a:ext cx="656408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Supports nested interrupt handling.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Minimal overhead ISR management.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Uses architecture-specific APIs under a common kernel API umbrella.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95A1CF-4B98-C935-A7C8-6278E34E931C}"/>
              </a:ext>
            </a:extLst>
          </p:cNvPr>
          <p:cNvSpPr txBox="1"/>
          <p:nvPr/>
        </p:nvSpPr>
        <p:spPr>
          <a:xfrm>
            <a:off x="206828" y="3668523"/>
            <a:ext cx="6564085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Defining an ISR (Static &amp; Dynamic)</a:t>
            </a:r>
          </a:p>
          <a:p>
            <a:endParaRPr lang="en-US" b="1" dirty="0"/>
          </a:p>
          <a:p>
            <a:r>
              <a:rPr lang="en-US" dirty="0"/>
              <a:t>Static ISR Example: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IRQ_CONNECT(IRQ_LINE, PRIORITY, </a:t>
            </a:r>
            <a:r>
              <a:rPr lang="en-US" dirty="0" err="1"/>
              <a:t>isr_func</a:t>
            </a:r>
            <a:r>
              <a:rPr lang="en-US" dirty="0"/>
              <a:t>, NULL, 0)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442CF3-81C2-A01C-38DC-C243459A53C0}"/>
              </a:ext>
            </a:extLst>
          </p:cNvPr>
          <p:cNvSpPr txBox="1"/>
          <p:nvPr/>
        </p:nvSpPr>
        <p:spPr>
          <a:xfrm>
            <a:off x="206828" y="5204438"/>
            <a:ext cx="656408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Dynamic ISR Example: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/>
              <a:t>irq_connect_dynamic</a:t>
            </a:r>
            <a:r>
              <a:rPr lang="en-US" dirty="0"/>
              <a:t>(IRQ_LINE, PRIORITY, </a:t>
            </a:r>
            <a:r>
              <a:rPr lang="en-US" dirty="0" err="1"/>
              <a:t>isr_func</a:t>
            </a:r>
            <a:r>
              <a:rPr lang="en-US" dirty="0"/>
              <a:t>, NULL, 0);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/>
              <a:t>irq_enable</a:t>
            </a:r>
            <a:r>
              <a:rPr lang="en-US" dirty="0"/>
              <a:t>(IRQ_LINE);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1557CD-AA8E-1998-F4DC-7B2B5CB4BA38}"/>
              </a:ext>
            </a:extLst>
          </p:cNvPr>
          <p:cNvSpPr txBox="1"/>
          <p:nvPr/>
        </p:nvSpPr>
        <p:spPr>
          <a:xfrm>
            <a:off x="7086599" y="2197923"/>
            <a:ext cx="4898572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Interrupt Priorities</a:t>
            </a:r>
          </a:p>
          <a:p>
            <a:r>
              <a:rPr lang="en-US" b="1" dirty="0"/>
              <a:t>Lower number = Higher priority</a:t>
            </a:r>
          </a:p>
          <a:p>
            <a:endParaRPr lang="en-US" dirty="0"/>
          </a:p>
          <a:p>
            <a:r>
              <a:rPr lang="en-US" dirty="0"/>
              <a:t>Priorities depend on hardware &amp; SoC</a:t>
            </a:r>
          </a:p>
          <a:p>
            <a:endParaRPr lang="en-US" dirty="0"/>
          </a:p>
          <a:p>
            <a:r>
              <a:rPr lang="en-US" dirty="0"/>
              <a:t>Preemptive nesting allowed if priority permits</a:t>
            </a:r>
          </a:p>
        </p:txBody>
      </p:sp>
    </p:spTree>
    <p:extLst>
      <p:ext uri="{BB962C8B-B14F-4D97-AF65-F5344CB8AC3E}">
        <p14:creationId xmlns:p14="http://schemas.microsoft.com/office/powerpoint/2010/main" val="79609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E4732-1B20-17B7-53CB-8EAD25EE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A7AFF3-731B-0C6D-2ED3-7258E46CB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613415"/>
              </p:ext>
            </p:extLst>
          </p:nvPr>
        </p:nvGraphicFramePr>
        <p:xfrm>
          <a:off x="1295400" y="1711937"/>
          <a:ext cx="10232571" cy="3622066"/>
        </p:xfrm>
        <a:graphic>
          <a:graphicData uri="http://schemas.openxmlformats.org/drawingml/2006/table">
            <a:tbl>
              <a:tblPr/>
              <a:tblGrid>
                <a:gridCol w="2956871">
                  <a:extLst>
                    <a:ext uri="{9D8B030D-6E8A-4147-A177-3AD203B41FA5}">
                      <a16:colId xmlns:a16="http://schemas.microsoft.com/office/drawing/2014/main" val="152168140"/>
                    </a:ext>
                  </a:extLst>
                </a:gridCol>
                <a:gridCol w="7275700">
                  <a:extLst>
                    <a:ext uri="{9D8B030D-6E8A-4147-A177-3AD203B41FA5}">
                      <a16:colId xmlns:a16="http://schemas.microsoft.com/office/drawing/2014/main" val="820866333"/>
                    </a:ext>
                  </a:extLst>
                </a:gridCol>
              </a:tblGrid>
              <a:tr h="517438">
                <a:tc>
                  <a:txBody>
                    <a:bodyPr/>
                    <a:lstStyle/>
                    <a:p>
                      <a:r>
                        <a:rPr lang="en-US" sz="2400" b="1" dirty="0"/>
                        <a:t>API 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949785"/>
                  </a:ext>
                </a:extLst>
              </a:tr>
              <a:tr h="517438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irq_connect_dynamic()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Dynamically connect ISR at runtime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114176"/>
                  </a:ext>
                </a:extLst>
              </a:tr>
              <a:tr h="517438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irq_disable</a:t>
                      </a:r>
                      <a:r>
                        <a:rPr lang="en-US" b="1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Disable an IRQ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170965"/>
                  </a:ext>
                </a:extLst>
              </a:tr>
              <a:tr h="517438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irq_enable()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Enable an IRQ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496171"/>
                  </a:ext>
                </a:extLst>
              </a:tr>
              <a:tr h="517438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irq_is_enabled()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Check if IRQ is enabled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955824"/>
                  </a:ext>
                </a:extLst>
              </a:tr>
              <a:tr h="517438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irq_lock</a:t>
                      </a:r>
                      <a:r>
                        <a:rPr lang="en-US" b="1" dirty="0"/>
                        <a:t>() / </a:t>
                      </a:r>
                      <a:r>
                        <a:rPr lang="en-US" b="1" dirty="0" err="1"/>
                        <a:t>irq_unlock</a:t>
                      </a:r>
                      <a:r>
                        <a:rPr lang="en-US" b="1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Global interrupt lock/unlock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83555"/>
                  </a:ext>
                </a:extLst>
              </a:tr>
              <a:tr h="51743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ISR_DIRECT_DECLARE()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Low-latency ISR declaration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32007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6837174-7EA6-4CD3-D6E7-B5AC0B655A43}"/>
              </a:ext>
            </a:extLst>
          </p:cNvPr>
          <p:cNvSpPr txBox="1"/>
          <p:nvPr/>
        </p:nvSpPr>
        <p:spPr>
          <a:xfrm>
            <a:off x="1295400" y="317747"/>
            <a:ext cx="9788970" cy="5232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/>
              <a:t>Zephyr RTOS — Interrupt Services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1057841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D6F5E-1BA6-D273-E2F2-83BBC9C5E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802B1F-3FDC-CA4D-2A7E-64AFEE2A6FA7}"/>
              </a:ext>
            </a:extLst>
          </p:cNvPr>
          <p:cNvSpPr txBox="1"/>
          <p:nvPr/>
        </p:nvSpPr>
        <p:spPr>
          <a:xfrm>
            <a:off x="2933699" y="2664865"/>
            <a:ext cx="6096000" cy="5847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/>
              <a:t>Zephyr RTOS – Polling Services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087444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D4256-CE6A-FE52-5CD7-026538028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B3FE72-1E08-13DD-7DF4-115FCEFF7375}"/>
              </a:ext>
            </a:extLst>
          </p:cNvPr>
          <p:cNvSpPr txBox="1"/>
          <p:nvPr/>
        </p:nvSpPr>
        <p:spPr>
          <a:xfrm>
            <a:off x="2400300" y="226464"/>
            <a:ext cx="6096000" cy="5847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/>
              <a:t>Zephyr RTOS – Polling Services</a:t>
            </a:r>
            <a:endParaRPr lang="en-US" sz="3200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0AA722-29FC-B692-1129-F0B9FE246595}"/>
              </a:ext>
            </a:extLst>
          </p:cNvPr>
          <p:cNvSpPr txBox="1"/>
          <p:nvPr/>
        </p:nvSpPr>
        <p:spPr>
          <a:xfrm>
            <a:off x="217715" y="2646793"/>
            <a:ext cx="9601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Why Use Polling?</a:t>
            </a:r>
          </a:p>
          <a:p>
            <a:r>
              <a:rPr lang="en-US" dirty="0"/>
              <a:t>Reduces CPU usage.</a:t>
            </a:r>
          </a:p>
          <a:p>
            <a:r>
              <a:rPr lang="en-US" dirty="0"/>
              <a:t>Simplifies thread logic (single thread waits for many events).</a:t>
            </a:r>
          </a:p>
          <a:p>
            <a:r>
              <a:rPr lang="en-US" dirty="0"/>
              <a:t>Useful in resource-constrained embedded systems.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B12A0C-49E5-1853-E7F9-8AC944316975}"/>
              </a:ext>
            </a:extLst>
          </p:cNvPr>
          <p:cNvSpPr txBox="1"/>
          <p:nvPr/>
        </p:nvSpPr>
        <p:spPr>
          <a:xfrm>
            <a:off x="217715" y="1022981"/>
            <a:ext cx="108966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What is Polling in Zephyr?</a:t>
            </a:r>
          </a:p>
          <a:p>
            <a:r>
              <a:rPr lang="en-US" b="1" dirty="0"/>
              <a:t>synchronization mechanism</a:t>
            </a:r>
            <a:r>
              <a:rPr lang="en-US" dirty="0"/>
              <a:t> to </a:t>
            </a:r>
            <a:r>
              <a:rPr lang="en-US" b="1" dirty="0"/>
              <a:t>wait on multiple objects/events</a:t>
            </a:r>
            <a:r>
              <a:rPr lang="en-US" dirty="0"/>
              <a:t> simultaneously.</a:t>
            </a:r>
          </a:p>
          <a:p>
            <a:r>
              <a:rPr lang="en-US" dirty="0"/>
              <a:t>Avoids spinning or blocking on a single object.</a:t>
            </a:r>
          </a:p>
          <a:p>
            <a:r>
              <a:rPr lang="en-US" dirty="0"/>
              <a:t>Enhances efficiency and reduces thread count.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D4EA3-2370-BEFF-329A-BC1EBBD82133}"/>
              </a:ext>
            </a:extLst>
          </p:cNvPr>
          <p:cNvSpPr txBox="1"/>
          <p:nvPr/>
        </p:nvSpPr>
        <p:spPr>
          <a:xfrm>
            <a:off x="217715" y="4532256"/>
            <a:ext cx="480059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Pollable Objects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k_sem</a:t>
            </a:r>
            <a:r>
              <a:rPr lang="en-US" dirty="0"/>
              <a:t>: Semaphore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k_fifo</a:t>
            </a:r>
            <a:r>
              <a:rPr lang="en-US" dirty="0"/>
              <a:t>, </a:t>
            </a:r>
            <a:r>
              <a:rPr lang="en-US" dirty="0" err="1"/>
              <a:t>k_queue</a:t>
            </a:r>
            <a:r>
              <a:rPr lang="en-US" dirty="0"/>
              <a:t>: Data availability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k_poll_signal</a:t>
            </a:r>
            <a:r>
              <a:rPr lang="en-US" dirty="0"/>
              <a:t>: Custom user-defined events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Other compatible kernel objects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ABC330-E391-ABA1-864B-D3FB08A4FC0B}"/>
              </a:ext>
            </a:extLst>
          </p:cNvPr>
          <p:cNvSpPr txBox="1"/>
          <p:nvPr/>
        </p:nvSpPr>
        <p:spPr>
          <a:xfrm>
            <a:off x="5666015" y="4255258"/>
            <a:ext cx="60960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u="sng" dirty="0"/>
              <a:t>Benefits of Polling in Zephyr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Efficient event management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Better resource usage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Cleaner code logic (no multiple threads or timers)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Real-time responsiveness with reduced CPU load</a:t>
            </a:r>
          </a:p>
        </p:txBody>
      </p:sp>
    </p:spTree>
    <p:extLst>
      <p:ext uri="{BB962C8B-B14F-4D97-AF65-F5344CB8AC3E}">
        <p14:creationId xmlns:p14="http://schemas.microsoft.com/office/powerpoint/2010/main" val="13861679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CE458-8423-3918-D2D9-2EFC8BF20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D948FF50-A4E3-36A7-4DCA-D32A5549B69B}"/>
              </a:ext>
            </a:extLst>
          </p:cNvPr>
          <p:cNvSpPr txBox="1"/>
          <p:nvPr/>
        </p:nvSpPr>
        <p:spPr>
          <a:xfrm>
            <a:off x="261256" y="3450771"/>
            <a:ext cx="736963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How It Works</a:t>
            </a:r>
            <a:endParaRPr lang="en-US" dirty="0">
              <a:effectLst/>
            </a:endParaRPr>
          </a:p>
          <a:p>
            <a:pPr algn="l" rtl="0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You define one or more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k_poll_event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structures.</a:t>
            </a:r>
            <a:endParaRPr lang="en-US" dirty="0">
              <a:effectLst/>
            </a:endParaRPr>
          </a:p>
          <a:p>
            <a:pPr algn="l" rtl="0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You initialize them using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k_poll_event_init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().</a:t>
            </a:r>
            <a:endParaRPr lang="en-US" dirty="0">
              <a:effectLst/>
            </a:endParaRPr>
          </a:p>
          <a:p>
            <a:pPr algn="l" rtl="0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You call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k_poll</a:t>
            </a:r>
            <a:r>
              <a:rPr lang="en-US" b="0" i="0" dirty="0">
                <a:solidFill>
                  <a:srgbClr val="000000"/>
                </a:solidFill>
                <a:effectLst/>
              </a:rPr>
              <a:t>() with an array of these events.</a:t>
            </a:r>
            <a:endParaRPr lang="en-US" dirty="0">
              <a:effectLst/>
            </a:endParaRPr>
          </a:p>
          <a:p>
            <a:pPr algn="l" rtl="0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The thread blocks until one or more events become ready.</a:t>
            </a:r>
            <a:endParaRPr lang="en-US" dirty="0">
              <a:effectLst/>
            </a:endParaRPr>
          </a:p>
          <a:p>
            <a:pPr algn="l" rtl="0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You check the state field to see which event(s) triggered.</a:t>
            </a:r>
            <a:endParaRPr lang="en-US" dirty="0">
              <a:effectLst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71B08B-BE29-6632-AB08-4D042CB2B971}"/>
              </a:ext>
            </a:extLst>
          </p:cNvPr>
          <p:cNvSpPr txBox="1"/>
          <p:nvPr/>
        </p:nvSpPr>
        <p:spPr>
          <a:xfrm>
            <a:off x="261256" y="1089381"/>
            <a:ext cx="10896600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b="1" i="0" dirty="0" err="1">
                <a:solidFill>
                  <a:srgbClr val="000000"/>
                </a:solidFill>
                <a:effectLst/>
              </a:rPr>
              <a:t>k_poll</a:t>
            </a:r>
            <a:r>
              <a:rPr lang="en-US" b="1" i="0" dirty="0">
                <a:solidFill>
                  <a:srgbClr val="000000"/>
                </a:solidFill>
                <a:effectLst/>
              </a:rPr>
              <a:t>() :: Main API to wait for one or more events:</a:t>
            </a:r>
            <a:endParaRPr lang="en-US" b="1" dirty="0">
              <a:effectLst/>
            </a:endParaRPr>
          </a:p>
          <a:p>
            <a:pPr algn="l" rtl="0">
              <a:buNone/>
            </a:pPr>
            <a:endParaRPr lang="en-US" dirty="0">
              <a:solidFill>
                <a:srgbClr val="000000"/>
              </a:solidFill>
            </a:endParaRPr>
          </a:p>
          <a:p>
            <a:r>
              <a:rPr lang="en-US" b="1" dirty="0">
                <a:solidFill>
                  <a:srgbClr val="000000"/>
                </a:solidFill>
              </a:rPr>
              <a:t>int </a:t>
            </a:r>
            <a:r>
              <a:rPr lang="en-US" b="1" dirty="0" err="1">
                <a:solidFill>
                  <a:srgbClr val="000000"/>
                </a:solidFill>
              </a:rPr>
              <a:t>k_poll</a:t>
            </a:r>
            <a:r>
              <a:rPr lang="en-US" b="1" dirty="0">
                <a:solidFill>
                  <a:srgbClr val="000000"/>
                </a:solidFill>
              </a:rPr>
              <a:t>(struct </a:t>
            </a:r>
            <a:r>
              <a:rPr lang="en-US" b="1" dirty="0" err="1">
                <a:solidFill>
                  <a:srgbClr val="000000"/>
                </a:solidFill>
              </a:rPr>
              <a:t>k_poll_event</a:t>
            </a:r>
            <a:r>
              <a:rPr lang="en-US" b="1" dirty="0">
                <a:solidFill>
                  <a:srgbClr val="000000"/>
                </a:solidFill>
              </a:rPr>
              <a:t> *events, int </a:t>
            </a:r>
            <a:r>
              <a:rPr lang="en-US" b="1" dirty="0" err="1">
                <a:solidFill>
                  <a:srgbClr val="000000"/>
                </a:solidFill>
              </a:rPr>
              <a:t>num_events</a:t>
            </a:r>
            <a:r>
              <a:rPr lang="en-US" b="1" dirty="0">
                <a:solidFill>
                  <a:srgbClr val="000000"/>
                </a:solidFill>
              </a:rPr>
              <a:t>, </a:t>
            </a:r>
            <a:r>
              <a:rPr lang="en-US" b="1" dirty="0" err="1">
                <a:solidFill>
                  <a:srgbClr val="000000"/>
                </a:solidFill>
              </a:rPr>
              <a:t>k_timeout_t</a:t>
            </a:r>
            <a:r>
              <a:rPr lang="en-US" b="1" dirty="0">
                <a:solidFill>
                  <a:srgbClr val="000000"/>
                </a:solidFill>
              </a:rPr>
              <a:t> timeout);</a:t>
            </a:r>
          </a:p>
          <a:p>
            <a:pPr algn="l" rtl="0">
              <a:buNone/>
            </a:pPr>
            <a:endParaRPr lang="en-US" b="0" i="0" dirty="0">
              <a:solidFill>
                <a:srgbClr val="000000"/>
              </a:solidFill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events: Array of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k_poll_event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structures.</a:t>
            </a:r>
            <a:endParaRPr lang="en-US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00000"/>
                </a:solidFill>
                <a:effectLst/>
              </a:rPr>
              <a:t>num_events</a:t>
            </a:r>
            <a:r>
              <a:rPr lang="en-US" b="0" i="0" dirty="0">
                <a:solidFill>
                  <a:srgbClr val="000000"/>
                </a:solidFill>
                <a:effectLst/>
              </a:rPr>
              <a:t>: Number of elements in the array.</a:t>
            </a:r>
            <a:endParaRPr lang="en-US" dirty="0">
              <a:effectLst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timeout: How long to wait (K_FOREVER, K_NO_WAIT, or a specific timeout).</a:t>
            </a:r>
            <a:endParaRPr lang="en-US" dirty="0">
              <a:effectLst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081D18-EB31-15F0-A5DA-14DD46D24455}"/>
              </a:ext>
            </a:extLst>
          </p:cNvPr>
          <p:cNvSpPr txBox="1"/>
          <p:nvPr/>
        </p:nvSpPr>
        <p:spPr>
          <a:xfrm>
            <a:off x="2329543" y="236097"/>
            <a:ext cx="6096000" cy="5232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b="1" dirty="0"/>
              <a:t>              Polling in Zephyr RTOS</a:t>
            </a:r>
            <a:endParaRPr lang="en-US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614610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86BEC-A6B4-8DD6-59C8-EF1B20403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8C0DBB-0C9B-6666-6E44-ADBC918CC32F}"/>
              </a:ext>
            </a:extLst>
          </p:cNvPr>
          <p:cNvSpPr txBox="1"/>
          <p:nvPr/>
        </p:nvSpPr>
        <p:spPr>
          <a:xfrm>
            <a:off x="2933699" y="2664865"/>
            <a:ext cx="6096000" cy="107721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/>
              <a:t>Semaphore Synchronization in Zephyr RTOS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78345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9B4CD-ADFA-5FD7-8900-5D03F7E3F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0532C2-CD08-84F5-66D1-0FCF32D9CF72}"/>
              </a:ext>
            </a:extLst>
          </p:cNvPr>
          <p:cNvSpPr txBox="1"/>
          <p:nvPr/>
        </p:nvSpPr>
        <p:spPr>
          <a:xfrm>
            <a:off x="2503715" y="163676"/>
            <a:ext cx="6096000" cy="4001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/>
              <a:t>Semaphore Synchronization in Zephyr RTOS</a:t>
            </a:r>
            <a:endParaRPr 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68D7F7-25AF-8373-911B-0ED04361CE9F}"/>
              </a:ext>
            </a:extLst>
          </p:cNvPr>
          <p:cNvSpPr txBox="1"/>
          <p:nvPr/>
        </p:nvSpPr>
        <p:spPr>
          <a:xfrm>
            <a:off x="337455" y="664925"/>
            <a:ext cx="9916887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 semaphore is a counter used to control access to shared resources.</a:t>
            </a:r>
          </a:p>
          <a:p>
            <a:endParaRPr lang="en-US" dirty="0"/>
          </a:p>
          <a:p>
            <a:r>
              <a:rPr lang="en-US" dirty="0"/>
              <a:t>Zephyr provides a counting semaphore mechanism.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Resource management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Thread synchronization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Event signaling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r>
              <a:rPr lang="en-US" b="1" dirty="0"/>
              <a:t>Counting Semaphore: </a:t>
            </a:r>
            <a:r>
              <a:rPr lang="en-US" dirty="0"/>
              <a:t>Supports values from 0 to max.</a:t>
            </a:r>
          </a:p>
          <a:p>
            <a:endParaRPr lang="en-US" dirty="0"/>
          </a:p>
          <a:p>
            <a:r>
              <a:rPr lang="en-US" b="1" dirty="0"/>
              <a:t>Thread Blocking: </a:t>
            </a:r>
            <a:r>
              <a:rPr lang="en-US" dirty="0"/>
              <a:t>Threads can block until the semaphore is available.</a:t>
            </a:r>
          </a:p>
          <a:p>
            <a:r>
              <a:rPr lang="en-US" b="1" dirty="0"/>
              <a:t>Atomicity: </a:t>
            </a:r>
            <a:r>
              <a:rPr lang="en-US" dirty="0"/>
              <a:t>Semaphore operations are atomic and safe across threads.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94DEFAA-F145-8257-DBE1-51C3049152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925794"/>
              </p:ext>
            </p:extLst>
          </p:nvPr>
        </p:nvGraphicFramePr>
        <p:xfrm>
          <a:off x="337455" y="4354990"/>
          <a:ext cx="7621815" cy="2194560"/>
        </p:xfrm>
        <a:graphic>
          <a:graphicData uri="http://schemas.openxmlformats.org/drawingml/2006/table">
            <a:tbl>
              <a:tblPr/>
              <a:tblGrid>
                <a:gridCol w="3235041">
                  <a:extLst>
                    <a:ext uri="{9D8B030D-6E8A-4147-A177-3AD203B41FA5}">
                      <a16:colId xmlns:a16="http://schemas.microsoft.com/office/drawing/2014/main" val="3260021721"/>
                    </a:ext>
                  </a:extLst>
                </a:gridCol>
                <a:gridCol w="4386774">
                  <a:extLst>
                    <a:ext uri="{9D8B030D-6E8A-4147-A177-3AD203B41FA5}">
                      <a16:colId xmlns:a16="http://schemas.microsoft.com/office/drawing/2014/main" val="30144013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63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k_sem_init()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Initialize a semaphore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219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k_sem_take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Take (wait) a semaphore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43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k_sem_give()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Release a semaphore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76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k_sem_reset()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Reset semaphore 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041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k_sem_count_get()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 current 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595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6360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C3F3A-D022-6571-8CC3-0D06D564F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1AB9CD-CFA8-F8E9-EC2B-4F167A97A3A8}"/>
              </a:ext>
            </a:extLst>
          </p:cNvPr>
          <p:cNvSpPr txBox="1"/>
          <p:nvPr/>
        </p:nvSpPr>
        <p:spPr>
          <a:xfrm>
            <a:off x="2247899" y="302665"/>
            <a:ext cx="6798130" cy="46166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Zephyr Semaphore API Overview</a:t>
            </a:r>
            <a:endParaRPr lang="en-US" sz="240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7AE20-308C-055B-42B3-D49F61B57585}"/>
              </a:ext>
            </a:extLst>
          </p:cNvPr>
          <p:cNvSpPr txBox="1"/>
          <p:nvPr/>
        </p:nvSpPr>
        <p:spPr>
          <a:xfrm>
            <a:off x="337457" y="1168928"/>
            <a:ext cx="6096000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err="1"/>
              <a:t>k_sem_init</a:t>
            </a:r>
            <a:r>
              <a:rPr lang="en-US" b="1" dirty="0"/>
              <a:t>()</a:t>
            </a:r>
          </a:p>
          <a:p>
            <a:r>
              <a:rPr lang="en-US" dirty="0"/>
              <a:t>Usage: </a:t>
            </a:r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k_sem_init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(&amp;</a:t>
            </a:r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sem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initial_count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, limit)</a:t>
            </a:r>
          </a:p>
          <a:p>
            <a:endParaRPr lang="en-US" b="1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dirty="0" err="1"/>
              <a:t>initial_count</a:t>
            </a:r>
            <a:r>
              <a:rPr lang="en-US" dirty="0"/>
              <a:t>: Current count of the semaphore</a:t>
            </a:r>
          </a:p>
          <a:p>
            <a:endParaRPr lang="en-US" dirty="0"/>
          </a:p>
          <a:p>
            <a:r>
              <a:rPr lang="en-US" dirty="0"/>
              <a:t>limit: Maximum count value</a:t>
            </a:r>
          </a:p>
          <a:p>
            <a:r>
              <a:rPr lang="en-US" dirty="0"/>
              <a:t>Should be called before use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13D8A9-525C-F83F-F01A-089C04F92F9E}"/>
              </a:ext>
            </a:extLst>
          </p:cNvPr>
          <p:cNvSpPr txBox="1"/>
          <p:nvPr/>
        </p:nvSpPr>
        <p:spPr>
          <a:xfrm>
            <a:off x="6629399" y="1191912"/>
            <a:ext cx="5366658" cy="42780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err="1"/>
              <a:t>k_sem_take</a:t>
            </a:r>
            <a:r>
              <a:rPr lang="en-US" sz="1600" b="1" dirty="0"/>
              <a:t>()</a:t>
            </a:r>
          </a:p>
          <a:p>
            <a:r>
              <a:rPr lang="en-US" sz="1600" dirty="0"/>
              <a:t>Purpose: Decrease the semaphore count (acquire resource)</a:t>
            </a:r>
          </a:p>
          <a:p>
            <a:endParaRPr lang="en-US" sz="1600" dirty="0"/>
          </a:p>
          <a:p>
            <a:r>
              <a:rPr lang="en-US" sz="1600" dirty="0"/>
              <a:t>If count = 0: Thread blocks (unless K_NO_WAIT)</a:t>
            </a:r>
          </a:p>
          <a:p>
            <a:endParaRPr lang="en-US" sz="1600" dirty="0"/>
          </a:p>
          <a:p>
            <a:r>
              <a:rPr lang="en-US" b="1" u="sng" dirty="0"/>
              <a:t>Supports timeout:</a:t>
            </a:r>
          </a:p>
          <a:p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K_FOREVER </a:t>
            </a:r>
            <a:r>
              <a:rPr lang="en-US" sz="1600" dirty="0"/>
              <a:t>→ Wait indefinitely</a:t>
            </a:r>
          </a:p>
          <a:p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K_NO_WAIT </a:t>
            </a:r>
            <a:r>
              <a:rPr lang="en-US" sz="1600" dirty="0"/>
              <a:t>→ Return immediately if unavailable</a:t>
            </a:r>
          </a:p>
          <a:p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K_MSEC(x)   </a:t>
            </a:r>
            <a:r>
              <a:rPr lang="en-US" sz="1600" dirty="0"/>
              <a:t>→ Wait for x milliseconds</a:t>
            </a:r>
          </a:p>
          <a:p>
            <a:endParaRPr lang="en-US" sz="1600" dirty="0"/>
          </a:p>
          <a:p>
            <a:r>
              <a:rPr lang="en-US" sz="1600" dirty="0"/>
              <a:t> </a:t>
            </a:r>
            <a:r>
              <a:rPr lang="en-US" sz="1600" dirty="0" err="1"/>
              <a:t>k_sem_give</a:t>
            </a:r>
            <a:r>
              <a:rPr lang="en-US" sz="1600" dirty="0"/>
              <a:t>()</a:t>
            </a:r>
          </a:p>
          <a:p>
            <a:r>
              <a:rPr lang="en-US" sz="1600" dirty="0"/>
              <a:t>Purpose: Increase the semaphore count (release resource)</a:t>
            </a:r>
          </a:p>
          <a:p>
            <a:endParaRPr lang="en-US" sz="1600" dirty="0"/>
          </a:p>
          <a:p>
            <a:r>
              <a:rPr lang="en-US" sz="1600" dirty="0"/>
              <a:t>If threads are waiting → wakes up the highest-priority one</a:t>
            </a:r>
          </a:p>
          <a:p>
            <a:endParaRPr lang="en-US" sz="1600" dirty="0"/>
          </a:p>
          <a:p>
            <a:r>
              <a:rPr lang="en-US" sz="1600" dirty="0"/>
              <a:t>Count is capped by limit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541E43-C268-503B-EE7B-92A939C2D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429000"/>
            <a:ext cx="3507991" cy="3195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0306905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36F47-4F3D-A972-A4A8-67C0A8B5C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5E3961-A605-5904-F27E-F7DD45E40B97}"/>
              </a:ext>
            </a:extLst>
          </p:cNvPr>
          <p:cNvSpPr txBox="1"/>
          <p:nvPr/>
        </p:nvSpPr>
        <p:spPr>
          <a:xfrm>
            <a:off x="2574470" y="2689240"/>
            <a:ext cx="6096000" cy="107721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 sz="3200"/>
            </a:lvl1pPr>
          </a:lstStyle>
          <a:p>
            <a:r>
              <a:rPr lang="en-US" dirty="0">
                <a:hlinkClick r:id="rId2"/>
              </a:rPr>
              <a:t>Zephyr Kernel Services – Mutexes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0110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4E34F-1D57-E122-B299-2D4CDB494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5EC710-4C19-A288-3527-B66BCECC19B0}"/>
              </a:ext>
            </a:extLst>
          </p:cNvPr>
          <p:cNvSpPr txBox="1"/>
          <p:nvPr/>
        </p:nvSpPr>
        <p:spPr>
          <a:xfrm>
            <a:off x="2128156" y="250893"/>
            <a:ext cx="7777843" cy="5847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 sz="3200"/>
            </a:lvl1pPr>
          </a:lstStyle>
          <a:p>
            <a:pPr algn="ctr"/>
            <a:r>
              <a:rPr lang="en-US" dirty="0">
                <a:hlinkClick r:id="rId2"/>
              </a:rPr>
              <a:t>Zephyr Kernel Services – Mutexes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614EA-5406-47AE-1799-8FDDE8F4E0FC}"/>
              </a:ext>
            </a:extLst>
          </p:cNvPr>
          <p:cNvSpPr txBox="1"/>
          <p:nvPr/>
        </p:nvSpPr>
        <p:spPr>
          <a:xfrm>
            <a:off x="409122" y="1080148"/>
            <a:ext cx="1141911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u="sng" dirty="0"/>
              <a:t>Mutex:: </a:t>
            </a:r>
            <a:r>
              <a:rPr lang="en-US" dirty="0"/>
              <a:t>Mutex (Mutual Exclusion): A synchronization primitive to ensure only one thread accesses a critical section at a time. Used for protecting shared resources in concurrent systems.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05EB77-3CC0-4D58-9768-BA7A1EE09BC7}"/>
              </a:ext>
            </a:extLst>
          </p:cNvPr>
          <p:cNvSpPr txBox="1"/>
          <p:nvPr/>
        </p:nvSpPr>
        <p:spPr>
          <a:xfrm>
            <a:off x="409122" y="2215439"/>
            <a:ext cx="6096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Prevent data races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Ensure thread-safe access to global/shared resources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Serialize access to peripheral drivers, buffers, etc.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76ABCF-E0D6-CF9B-D7CC-8EBBD1E2A636}"/>
              </a:ext>
            </a:extLst>
          </p:cNvPr>
          <p:cNvSpPr txBox="1"/>
          <p:nvPr/>
        </p:nvSpPr>
        <p:spPr>
          <a:xfrm>
            <a:off x="6885213" y="2236819"/>
            <a:ext cx="492034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Can be initialized statically or dynamically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Blocking or timeout-based locking support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20B2EF9-DBAD-3E50-7B49-926F66719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321675"/>
              </p:ext>
            </p:extLst>
          </p:nvPr>
        </p:nvGraphicFramePr>
        <p:xfrm>
          <a:off x="386443" y="4023526"/>
          <a:ext cx="7262587" cy="1828800"/>
        </p:xfrm>
        <a:graphic>
          <a:graphicData uri="http://schemas.openxmlformats.org/drawingml/2006/table">
            <a:tbl>
              <a:tblPr/>
              <a:tblGrid>
                <a:gridCol w="3017297">
                  <a:extLst>
                    <a:ext uri="{9D8B030D-6E8A-4147-A177-3AD203B41FA5}">
                      <a16:colId xmlns:a16="http://schemas.microsoft.com/office/drawing/2014/main" val="2135277134"/>
                    </a:ext>
                  </a:extLst>
                </a:gridCol>
                <a:gridCol w="4245290">
                  <a:extLst>
                    <a:ext uri="{9D8B030D-6E8A-4147-A177-3AD203B41FA5}">
                      <a16:colId xmlns:a16="http://schemas.microsoft.com/office/drawing/2014/main" val="3868543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721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k_mutex_init()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Dynamically initialize a mutex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951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k_mutex_lock()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Lock the mutex with optional timeout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636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k_mutex_unlock()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Unlock a held mutex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543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K_MUTEX_DEFINE(name)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Statically define and initialize a mutex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5551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9A7CF1A-41C0-50F5-07A6-92EEE8A91385}"/>
              </a:ext>
            </a:extLst>
          </p:cNvPr>
          <p:cNvSpPr txBox="1"/>
          <p:nvPr/>
        </p:nvSpPr>
        <p:spPr>
          <a:xfrm>
            <a:off x="7913913" y="4023526"/>
            <a:ext cx="4147458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Timeout Support</a:t>
            </a:r>
          </a:p>
          <a:p>
            <a:r>
              <a:rPr lang="en-US" dirty="0" err="1"/>
              <a:t>k_mutex_lock</a:t>
            </a:r>
            <a:r>
              <a:rPr lang="en-US" dirty="0"/>
              <a:t>() supports timeouts:</a:t>
            </a:r>
          </a:p>
          <a:p>
            <a:r>
              <a:rPr lang="en-US" dirty="0"/>
              <a:t>K_NO_WAIT – returns immediately</a:t>
            </a:r>
          </a:p>
          <a:p>
            <a:r>
              <a:rPr lang="en-US" dirty="0"/>
              <a:t>K_FOREVER – wait indefinitely</a:t>
            </a:r>
          </a:p>
          <a:p>
            <a:r>
              <a:rPr lang="en-US" dirty="0"/>
              <a:t>K_MSEC(x) – wait x milliseconds</a:t>
            </a:r>
          </a:p>
          <a:p>
            <a:r>
              <a:rPr lang="en-US" dirty="0"/>
              <a:t>If timeout expires, mutex is not acquired</a:t>
            </a:r>
          </a:p>
        </p:txBody>
      </p:sp>
    </p:spTree>
    <p:extLst>
      <p:ext uri="{BB962C8B-B14F-4D97-AF65-F5344CB8AC3E}">
        <p14:creationId xmlns:p14="http://schemas.microsoft.com/office/powerpoint/2010/main" val="3883671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AA868-5AA6-826A-2AB6-A7D851A66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635B65-0BF1-301D-B8B0-83C1CB68092B}"/>
              </a:ext>
            </a:extLst>
          </p:cNvPr>
          <p:cNvSpPr txBox="1"/>
          <p:nvPr/>
        </p:nvSpPr>
        <p:spPr>
          <a:xfrm>
            <a:off x="2454729" y="228600"/>
            <a:ext cx="6096000" cy="5847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 sz="3200"/>
            </a:lvl1pPr>
          </a:lstStyle>
          <a:p>
            <a:r>
              <a:rPr lang="en-US" dirty="0">
                <a:hlinkClick r:id="rId2"/>
              </a:rPr>
              <a:t>Zephyr Kernel Services – Mutexes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8BFD4-C814-D23C-DE45-F027B95A7356}"/>
              </a:ext>
            </a:extLst>
          </p:cNvPr>
          <p:cNvSpPr txBox="1"/>
          <p:nvPr/>
        </p:nvSpPr>
        <p:spPr>
          <a:xfrm>
            <a:off x="511629" y="1116448"/>
            <a:ext cx="6096000" cy="26161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/>
              <a:t>Limitations / Considerations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Should not be used in ISRs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Blocking calls can lead to deadlocks if not carefully managed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Mutex should always be unlocked to prevent system stalls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0110A5-B852-CED8-2354-FA6F821BC0D8}"/>
              </a:ext>
            </a:extLst>
          </p:cNvPr>
          <p:cNvSpPr txBox="1"/>
          <p:nvPr/>
        </p:nvSpPr>
        <p:spPr>
          <a:xfrm>
            <a:off x="511629" y="4125133"/>
            <a:ext cx="6096000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Best Practices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Lock mutex only for minimum time required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Always unlock in finally/cleanup code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Use timeout to avoid indefinite blocking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Don’t nest locks unless system is configured to allow it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25A9C0-1045-C7E5-15B9-F854BCD2B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380" y="1864510"/>
            <a:ext cx="4952842" cy="31507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215739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D9BD3-6EEE-7268-1882-EEB0EC32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D74307-BB7D-8A3B-7161-36E8A2DC9C52}"/>
              </a:ext>
            </a:extLst>
          </p:cNvPr>
          <p:cNvSpPr txBox="1"/>
          <p:nvPr/>
        </p:nvSpPr>
        <p:spPr>
          <a:xfrm>
            <a:off x="2933699" y="2664865"/>
            <a:ext cx="6096000" cy="107721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fr-FR" sz="3200" dirty="0" err="1"/>
              <a:t>Zephyr</a:t>
            </a:r>
            <a:r>
              <a:rPr lang="fr-FR" sz="3200" dirty="0"/>
              <a:t> RTOS – Condition Variables (</a:t>
            </a:r>
            <a:r>
              <a:rPr lang="fr-FR" sz="3200" dirty="0" err="1"/>
              <a:t>Condvar</a:t>
            </a:r>
            <a:r>
              <a:rPr lang="fr-FR" sz="3200" dirty="0"/>
              <a:t>)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645739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E492E-E25D-CBCC-6CA5-62A760FFE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ED1726-05DF-B08E-231E-4F0F8BB9B507}"/>
              </a:ext>
            </a:extLst>
          </p:cNvPr>
          <p:cNvSpPr txBox="1"/>
          <p:nvPr/>
        </p:nvSpPr>
        <p:spPr>
          <a:xfrm>
            <a:off x="2117269" y="161151"/>
            <a:ext cx="8256815" cy="5847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fr-FR" sz="3200" dirty="0" err="1"/>
              <a:t>Zephyr</a:t>
            </a:r>
            <a:r>
              <a:rPr lang="fr-FR" sz="3200" dirty="0"/>
              <a:t> RTOS – Condition Variables (</a:t>
            </a:r>
            <a:r>
              <a:rPr lang="fr-FR" sz="3200" dirty="0" err="1"/>
              <a:t>Condvar</a:t>
            </a:r>
            <a:r>
              <a:rPr lang="fr-FR" sz="3200" dirty="0"/>
              <a:t>)</a:t>
            </a:r>
            <a:endParaRPr lang="en-US" sz="32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29EC8A-2442-2036-E2BD-C833AF6899AE}"/>
              </a:ext>
            </a:extLst>
          </p:cNvPr>
          <p:cNvSpPr txBox="1"/>
          <p:nvPr/>
        </p:nvSpPr>
        <p:spPr>
          <a:xfrm>
            <a:off x="315687" y="971568"/>
            <a:ext cx="10983685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Condition Variable:: </a:t>
            </a:r>
            <a:r>
              <a:rPr lang="en-US" dirty="0"/>
              <a:t>(</a:t>
            </a:r>
            <a:r>
              <a:rPr lang="en-US" dirty="0" err="1"/>
              <a:t>condvar</a:t>
            </a:r>
            <a:r>
              <a:rPr lang="en-US" dirty="0"/>
              <a:t>) is a synchronization mechanism used to: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Block a thread until a particular condition is met.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Work together with a mutex to coordinate thread execution.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Used for event-driven waiting on shared resources.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5FA822-7195-BE6B-C668-F91ACCDCB001}"/>
              </a:ext>
            </a:extLst>
          </p:cNvPr>
          <p:cNvSpPr txBox="1"/>
          <p:nvPr/>
        </p:nvSpPr>
        <p:spPr>
          <a:xfrm>
            <a:off x="315687" y="2674538"/>
            <a:ext cx="803365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Condition variables allow threads to wait for changes in program state.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Must always be used with a mutex.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Allows efficient signaling between threads.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FCE22F0-6AC4-43A6-F516-5D9839969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360578"/>
              </p:ext>
            </p:extLst>
          </p:nvPr>
        </p:nvGraphicFramePr>
        <p:xfrm>
          <a:off x="411843" y="4409105"/>
          <a:ext cx="7937500" cy="1828800"/>
        </p:xfrm>
        <a:graphic>
          <a:graphicData uri="http://schemas.openxmlformats.org/drawingml/2006/table">
            <a:tbl>
              <a:tblPr/>
              <a:tblGrid>
                <a:gridCol w="2556987">
                  <a:extLst>
                    <a:ext uri="{9D8B030D-6E8A-4147-A177-3AD203B41FA5}">
                      <a16:colId xmlns:a16="http://schemas.microsoft.com/office/drawing/2014/main" val="2483001037"/>
                    </a:ext>
                  </a:extLst>
                </a:gridCol>
                <a:gridCol w="5380513">
                  <a:extLst>
                    <a:ext uri="{9D8B030D-6E8A-4147-A177-3AD203B41FA5}">
                      <a16:colId xmlns:a16="http://schemas.microsoft.com/office/drawing/2014/main" val="22594668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427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k_condvar_init()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Initialize a condition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318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k_condvar_wait()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a thread until condition is signaled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57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k_condvar_signal()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Wake up </a:t>
                      </a:r>
                      <a:r>
                        <a:rPr lang="en-US" b="1"/>
                        <a:t>one</a:t>
                      </a:r>
                      <a:r>
                        <a:rPr lang="en-US"/>
                        <a:t> waiting thread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835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k_condvar_broadcast()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Wake up </a:t>
                      </a:r>
                      <a:r>
                        <a:rPr lang="en-US" b="1" dirty="0"/>
                        <a:t>all</a:t>
                      </a:r>
                      <a:r>
                        <a:rPr lang="en-US" dirty="0"/>
                        <a:t> waiting threads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761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8728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4C9BB-F1B4-E109-88E4-DA4EBA5D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51FD7B-DC45-77F3-DD56-DB634C5BB81D}"/>
              </a:ext>
            </a:extLst>
          </p:cNvPr>
          <p:cNvSpPr txBox="1"/>
          <p:nvPr/>
        </p:nvSpPr>
        <p:spPr>
          <a:xfrm>
            <a:off x="1733549" y="117608"/>
            <a:ext cx="8724901" cy="5847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fr-FR" sz="3200" dirty="0" err="1"/>
              <a:t>Zephyr</a:t>
            </a:r>
            <a:r>
              <a:rPr lang="fr-FR" sz="3200" dirty="0"/>
              <a:t> RTOS – Condition Variables (</a:t>
            </a:r>
            <a:r>
              <a:rPr lang="fr-FR" sz="3200" dirty="0" err="1"/>
              <a:t>Condvar</a:t>
            </a:r>
            <a:r>
              <a:rPr lang="fr-FR" sz="3200" dirty="0"/>
              <a:t>)</a:t>
            </a:r>
            <a:endParaRPr lang="en-US" sz="3200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99C59C-36B3-0CEF-FA6D-DD2432DB9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85" y="985467"/>
            <a:ext cx="4836515" cy="34286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B7781B-A953-6F2F-2963-AF19A7140240}"/>
              </a:ext>
            </a:extLst>
          </p:cNvPr>
          <p:cNvSpPr txBox="1"/>
          <p:nvPr/>
        </p:nvSpPr>
        <p:spPr>
          <a:xfrm>
            <a:off x="5519057" y="985467"/>
            <a:ext cx="6096000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err="1"/>
              <a:t>k_condvar_wait</a:t>
            </a:r>
            <a:r>
              <a:rPr lang="en-US" b="1" dirty="0"/>
              <a:t>() </a:t>
            </a:r>
            <a:r>
              <a:rPr lang="en-US" dirty="0"/>
              <a:t>Works</a:t>
            </a:r>
          </a:p>
          <a:p>
            <a:endParaRPr lang="en-US" dirty="0"/>
          </a:p>
          <a:p>
            <a:r>
              <a:rPr lang="en-US" dirty="0"/>
              <a:t>Atomically: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Unlocks the associated mutex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Puts the thread to sleep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Reacquires the mutex when awakened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Supports timeout-based waits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2FB8BF-F964-E828-8935-F672BF87C314}"/>
              </a:ext>
            </a:extLst>
          </p:cNvPr>
          <p:cNvSpPr txBox="1"/>
          <p:nvPr/>
        </p:nvSpPr>
        <p:spPr>
          <a:xfrm>
            <a:off x="5519057" y="3379544"/>
            <a:ext cx="6096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err="1"/>
              <a:t>k_condvar_signal</a:t>
            </a:r>
            <a:r>
              <a:rPr lang="en-US" b="1" dirty="0"/>
              <a:t>():  </a:t>
            </a:r>
            <a:r>
              <a:rPr lang="en-US" dirty="0"/>
              <a:t>Wakes only one waiting thread</a:t>
            </a:r>
          </a:p>
          <a:p>
            <a:endParaRPr lang="en-US" dirty="0"/>
          </a:p>
          <a:p>
            <a:r>
              <a:rPr lang="en-US" b="1" dirty="0" err="1"/>
              <a:t>k_condvar_broadcast</a:t>
            </a:r>
            <a:r>
              <a:rPr lang="en-US" b="1" dirty="0"/>
              <a:t>(): </a:t>
            </a:r>
            <a:r>
              <a:rPr lang="en-US" dirty="0"/>
              <a:t>Wakes all waiting threads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5940B3-D82D-3BD6-F628-685E8567D5E0}"/>
              </a:ext>
            </a:extLst>
          </p:cNvPr>
          <p:cNvSpPr txBox="1"/>
          <p:nvPr/>
        </p:nvSpPr>
        <p:spPr>
          <a:xfrm>
            <a:off x="345085" y="4697209"/>
            <a:ext cx="60960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Best Practices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Always check the condition in a loop after waking.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Use mutex consistently with </a:t>
            </a:r>
            <a:r>
              <a:rPr lang="en-US" dirty="0" err="1"/>
              <a:t>condvar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Avoid spurious wakeups by rechecking state.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Pair signal() or broadcast() with the state update.</a:t>
            </a:r>
          </a:p>
        </p:txBody>
      </p:sp>
    </p:spTree>
    <p:extLst>
      <p:ext uri="{BB962C8B-B14F-4D97-AF65-F5344CB8AC3E}">
        <p14:creationId xmlns:p14="http://schemas.microsoft.com/office/powerpoint/2010/main" val="2294007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2DFE2-74A5-D8F9-64F3-271AC18B2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35221E-9BFC-B93B-B315-DA029842D722}"/>
              </a:ext>
            </a:extLst>
          </p:cNvPr>
          <p:cNvSpPr txBox="1"/>
          <p:nvPr/>
        </p:nvSpPr>
        <p:spPr>
          <a:xfrm>
            <a:off x="2933699" y="2664865"/>
            <a:ext cx="6096000" cy="107721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/>
              <a:t>Zephyr RTOS – Event Synchronization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305908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8351C-B03D-D1B9-574F-81EDEC618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0B04CB-F8AA-1A34-5393-57E4DC30618B}"/>
              </a:ext>
            </a:extLst>
          </p:cNvPr>
          <p:cNvSpPr txBox="1"/>
          <p:nvPr/>
        </p:nvSpPr>
        <p:spPr>
          <a:xfrm>
            <a:off x="2051955" y="128494"/>
            <a:ext cx="8245929" cy="5847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/>
              <a:t>       Zephyr RTOS – Event Synchronization</a:t>
            </a:r>
            <a:endParaRPr lang="en-US" sz="32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D9B87A-3C77-E829-0313-4831B93CB00B}"/>
              </a:ext>
            </a:extLst>
          </p:cNvPr>
          <p:cNvSpPr txBox="1"/>
          <p:nvPr/>
        </p:nvSpPr>
        <p:spPr>
          <a:xfrm>
            <a:off x="457199" y="845795"/>
            <a:ext cx="11136087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/>
              <a:t>Events in Zephyr </a:t>
            </a:r>
            <a:r>
              <a:rPr lang="en-US" sz="2000" dirty="0"/>
              <a:t>:: Lightweight synchronization primitive.  Allows threads to wait for one or more condition bits to be set. Ideal for multi-condition signaling.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0CD7A-EAAA-19FF-EE89-07B6F731ABAB}"/>
              </a:ext>
            </a:extLst>
          </p:cNvPr>
          <p:cNvSpPr txBox="1"/>
          <p:nvPr/>
        </p:nvSpPr>
        <p:spPr>
          <a:xfrm>
            <a:off x="272143" y="1942237"/>
            <a:ext cx="60960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u="sng" dirty="0"/>
              <a:t> Event Object Overview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Represented by struct </a:t>
            </a:r>
            <a:r>
              <a:rPr lang="en-US" dirty="0" err="1"/>
              <a:t>k_event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32-bit field representing event flags.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Threads can block until a condition (bitmask) is met.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13676D-6531-AB64-72C3-7788DC455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353595"/>
              </p:ext>
            </p:extLst>
          </p:nvPr>
        </p:nvGraphicFramePr>
        <p:xfrm>
          <a:off x="272143" y="3873840"/>
          <a:ext cx="6652986" cy="1828800"/>
        </p:xfrm>
        <a:graphic>
          <a:graphicData uri="http://schemas.openxmlformats.org/drawingml/2006/table">
            <a:tbl>
              <a:tblPr/>
              <a:tblGrid>
                <a:gridCol w="3326493">
                  <a:extLst>
                    <a:ext uri="{9D8B030D-6E8A-4147-A177-3AD203B41FA5}">
                      <a16:colId xmlns:a16="http://schemas.microsoft.com/office/drawing/2014/main" val="3367209136"/>
                    </a:ext>
                  </a:extLst>
                </a:gridCol>
                <a:gridCol w="3326493">
                  <a:extLst>
                    <a:ext uri="{9D8B030D-6E8A-4147-A177-3AD203B41FA5}">
                      <a16:colId xmlns:a16="http://schemas.microsoft.com/office/drawing/2014/main" val="2111973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191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k_event_init()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Initialize event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524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k_event_set()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Set 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643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k_event_wait()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Wait for 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339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k_event_clear()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Clear 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791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110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36CD-DB6C-310B-9883-98F7DB699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3AAEE4-2251-4021-192B-3868E0A35F0F}"/>
              </a:ext>
            </a:extLst>
          </p:cNvPr>
          <p:cNvSpPr txBox="1"/>
          <p:nvPr/>
        </p:nvSpPr>
        <p:spPr>
          <a:xfrm>
            <a:off x="2269669" y="291779"/>
            <a:ext cx="8975273" cy="5847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/>
              <a:t>Zephyr RTOS – Event Synchronization</a:t>
            </a:r>
            <a:endParaRPr lang="en-US" sz="32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FC7963-B171-9027-A394-87A0774DA6B5}"/>
              </a:ext>
            </a:extLst>
          </p:cNvPr>
          <p:cNvSpPr txBox="1"/>
          <p:nvPr/>
        </p:nvSpPr>
        <p:spPr>
          <a:xfrm>
            <a:off x="413656" y="1091977"/>
            <a:ext cx="11005458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/>
              <a:t>uint32_t </a:t>
            </a:r>
            <a:r>
              <a:rPr lang="en-US" sz="2000" b="1" dirty="0" err="1">
                <a:solidFill>
                  <a:schemeClr val="accent4">
                    <a:lumMod val="75000"/>
                  </a:schemeClr>
                </a:solidFill>
              </a:rPr>
              <a:t>k_event_wait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</a:rPr>
              <a:t>(struct </a:t>
            </a:r>
            <a:r>
              <a:rPr lang="en-US" sz="2000" b="1" dirty="0" err="1">
                <a:solidFill>
                  <a:schemeClr val="accent4">
                    <a:lumMod val="75000"/>
                  </a:schemeClr>
                </a:solidFill>
              </a:rPr>
              <a:t>k_event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</a:rPr>
              <a:t> *event, uint32_t bits, bool reset, </a:t>
            </a:r>
            <a:r>
              <a:rPr lang="en-US" sz="2000" b="1" dirty="0" err="1">
                <a:solidFill>
                  <a:schemeClr val="accent4">
                    <a:lumMod val="75000"/>
                  </a:schemeClr>
                </a:solidFill>
              </a:rPr>
              <a:t>k_timeout_t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</a:rPr>
              <a:t> timeout);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72414-FF2A-0795-DD27-E9E8094301E8}"/>
              </a:ext>
            </a:extLst>
          </p:cNvPr>
          <p:cNvSpPr txBox="1"/>
          <p:nvPr/>
        </p:nvSpPr>
        <p:spPr>
          <a:xfrm>
            <a:off x="413656" y="2740631"/>
            <a:ext cx="60960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bits: Bitmask to wait for</a:t>
            </a:r>
          </a:p>
          <a:p>
            <a:endParaRPr lang="en-US" dirty="0"/>
          </a:p>
          <a:p>
            <a:r>
              <a:rPr lang="en-US" dirty="0"/>
              <a:t>reset: Whether to clear bits after match</a:t>
            </a:r>
          </a:p>
          <a:p>
            <a:endParaRPr lang="en-US" dirty="0"/>
          </a:p>
          <a:p>
            <a:r>
              <a:rPr lang="en-US" dirty="0"/>
              <a:t>timeout: Wait duration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60EA9A-43F5-F325-54F0-CE2F5C6C393E}"/>
              </a:ext>
            </a:extLst>
          </p:cNvPr>
          <p:cNvSpPr txBox="1"/>
          <p:nvPr/>
        </p:nvSpPr>
        <p:spPr>
          <a:xfrm>
            <a:off x="6934200" y="2740631"/>
            <a:ext cx="484414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u="sng" dirty="0"/>
              <a:t>Setting &amp; Clearing Events</a:t>
            </a:r>
          </a:p>
          <a:p>
            <a:r>
              <a:rPr lang="en-US" dirty="0"/>
              <a:t>Setting bits:     </a:t>
            </a:r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k_event_set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(&amp;event, BIT(1));</a:t>
            </a:r>
          </a:p>
          <a:p>
            <a:endParaRPr lang="en-US" dirty="0"/>
          </a:p>
          <a:p>
            <a:r>
              <a:rPr lang="en-US" dirty="0"/>
              <a:t>Clearing bits:  </a:t>
            </a:r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k_event_clear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(&amp;event, BIT(1));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34F007-E2CD-AED9-0743-D29F9F3E2623}"/>
              </a:ext>
            </a:extLst>
          </p:cNvPr>
          <p:cNvSpPr txBox="1"/>
          <p:nvPr/>
        </p:nvSpPr>
        <p:spPr>
          <a:xfrm>
            <a:off x="413656" y="4654709"/>
            <a:ext cx="6096000" cy="18466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u="sng" dirty="0"/>
              <a:t>Best Practices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Use unique bit positions for clarity.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Always clear unused bits to avoid false triggering.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Avoid busy-waiting—use proper timeouts.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DD979A-970E-4B0A-AD82-24D7DFBAAA02}"/>
              </a:ext>
            </a:extLst>
          </p:cNvPr>
          <p:cNvSpPr txBox="1"/>
          <p:nvPr/>
        </p:nvSpPr>
        <p:spPr>
          <a:xfrm>
            <a:off x="6845752" y="4541146"/>
            <a:ext cx="5021039" cy="18466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u="sng" dirty="0"/>
              <a:t>Summary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Efficient bitmask-based synchronization.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Ideal for complex signaling across threads.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Integrated with ISR/thread logic.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CCE318-1AA5-9B07-B7FA-CF3CF520CBDE}"/>
              </a:ext>
            </a:extLst>
          </p:cNvPr>
          <p:cNvSpPr txBox="1"/>
          <p:nvPr/>
        </p:nvSpPr>
        <p:spPr>
          <a:xfrm>
            <a:off x="413656" y="1670524"/>
            <a:ext cx="1136468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Example Usage:    uint32_t events = </a:t>
            </a:r>
            <a:r>
              <a:rPr lang="en-US" dirty="0" err="1"/>
              <a:t>k_event_wait</a:t>
            </a:r>
            <a:r>
              <a:rPr lang="en-US" dirty="0"/>
              <a:t>(&amp;</a:t>
            </a:r>
            <a:r>
              <a:rPr lang="en-US" dirty="0" err="1"/>
              <a:t>my_event</a:t>
            </a:r>
            <a:r>
              <a:rPr lang="en-US" dirty="0"/>
              <a:t>, BIT(1) | BIT(3), false, K_FOREVER);</a:t>
            </a:r>
          </a:p>
          <a:p>
            <a:r>
              <a:rPr lang="en-US" dirty="0"/>
              <a:t>Waits for either BIT(1) or BIT(3) to be set.</a:t>
            </a:r>
          </a:p>
        </p:txBody>
      </p:sp>
    </p:spTree>
    <p:extLst>
      <p:ext uri="{BB962C8B-B14F-4D97-AF65-F5344CB8AC3E}">
        <p14:creationId xmlns:p14="http://schemas.microsoft.com/office/powerpoint/2010/main" val="33602947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3FB4B-4493-AA24-4E87-CD6DCD00E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C18AAC-D108-A621-EC70-5EEF4C7AC289}"/>
              </a:ext>
            </a:extLst>
          </p:cNvPr>
          <p:cNvSpPr txBox="1"/>
          <p:nvPr/>
        </p:nvSpPr>
        <p:spPr>
          <a:xfrm>
            <a:off x="2171698" y="2560090"/>
            <a:ext cx="8058152" cy="107721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/>
              <a:t>Zephyr --SMP (Symmetric Multiprocessing)</a:t>
            </a:r>
          </a:p>
          <a:p>
            <a:r>
              <a:rPr lang="en-US" sz="3200" dirty="0"/>
              <a:t> 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300350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2B0EF-6A5B-A04B-619B-A6875D9BF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4D864C-5774-C823-F255-6B54EC930A13}"/>
              </a:ext>
            </a:extLst>
          </p:cNvPr>
          <p:cNvSpPr txBox="1"/>
          <p:nvPr/>
        </p:nvSpPr>
        <p:spPr>
          <a:xfrm>
            <a:off x="1736271" y="226465"/>
            <a:ext cx="8474530" cy="5847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/>
              <a:t>Zephyr --SMP (Symmetric Multiprocessing)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E49DD8-3191-97A3-4D1F-04C69680CD8E}"/>
              </a:ext>
            </a:extLst>
          </p:cNvPr>
          <p:cNvSpPr txBox="1"/>
          <p:nvPr/>
        </p:nvSpPr>
        <p:spPr>
          <a:xfrm>
            <a:off x="500743" y="949796"/>
            <a:ext cx="6096000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SMP = Symmetric Multiprocessing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Allows Zephyr to run on </a:t>
            </a:r>
            <a:r>
              <a:rPr lang="en-US" b="1" dirty="0"/>
              <a:t>multiple CPU cores simultaneously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Cores share: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Memory space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Kernel scheduler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</a:t>
            </a:r>
            <a:r>
              <a:rPr lang="en-US" b="1" dirty="0"/>
              <a:t>parallel execution</a:t>
            </a:r>
            <a:r>
              <a:rPr lang="en-US" dirty="0"/>
              <a:t> of threads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</a:t>
            </a:r>
            <a:r>
              <a:rPr lang="en-US" b="1" dirty="0"/>
              <a:t>performance and responsiveness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3F9B53-AD42-CA08-7FF7-1759E4D56393}"/>
              </a:ext>
            </a:extLst>
          </p:cNvPr>
          <p:cNvSpPr txBox="1"/>
          <p:nvPr/>
        </p:nvSpPr>
        <p:spPr>
          <a:xfrm>
            <a:off x="6966857" y="1328397"/>
            <a:ext cx="49530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Features of SMP in Zephyr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Shared </a:t>
            </a:r>
            <a:r>
              <a:rPr lang="en-US" b="1" dirty="0"/>
              <a:t>global run queue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Threads can </a:t>
            </a:r>
            <a:r>
              <a:rPr lang="en-US" b="1" dirty="0"/>
              <a:t>migrate between CPUs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Per-CPU state</a:t>
            </a:r>
            <a:r>
              <a:rPr lang="en-US" dirty="0"/>
              <a:t> maintained by the kernel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Spinlocks and atomic APIs</a:t>
            </a:r>
            <a:r>
              <a:rPr lang="en-US" dirty="0"/>
              <a:t> for data protection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Interrupts</a:t>
            </a:r>
            <a:r>
              <a:rPr lang="en-US" dirty="0"/>
              <a:t> can be handled on any CPU 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0E311-9355-8EF3-C896-285AD366FD55}"/>
              </a:ext>
            </a:extLst>
          </p:cNvPr>
          <p:cNvSpPr txBox="1"/>
          <p:nvPr/>
        </p:nvSpPr>
        <p:spPr>
          <a:xfrm>
            <a:off x="500743" y="3806710"/>
            <a:ext cx="6096000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Thread Scheduling in SMP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Global scheduler</a:t>
            </a:r>
            <a:r>
              <a:rPr lang="en-US" dirty="0"/>
              <a:t> manages all threads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CPU tracks: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Current thread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Interrupt nesting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Load balancing across cores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Thread migration happens </a:t>
            </a:r>
            <a:r>
              <a:rPr lang="en-US" b="1" dirty="0"/>
              <a:t>based on availability and priority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421F58-BB86-C11D-A6A4-C85AAAD4A811}"/>
              </a:ext>
            </a:extLst>
          </p:cNvPr>
          <p:cNvSpPr txBox="1"/>
          <p:nvPr/>
        </p:nvSpPr>
        <p:spPr>
          <a:xfrm>
            <a:off x="7086600" y="3599881"/>
            <a:ext cx="4713514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Synchronization Mechanisms</a:t>
            </a:r>
          </a:p>
          <a:p>
            <a:r>
              <a:rPr lang="en-US" dirty="0"/>
              <a:t>Necessary to avoid race conditions</a:t>
            </a:r>
          </a:p>
          <a:p>
            <a:endParaRPr lang="en-US" dirty="0"/>
          </a:p>
          <a:p>
            <a:r>
              <a:rPr lang="en-US" dirty="0"/>
              <a:t>Used to protect shared resources</a:t>
            </a:r>
          </a:p>
          <a:p>
            <a:endParaRPr lang="en-US" dirty="0"/>
          </a:p>
          <a:p>
            <a:r>
              <a:rPr lang="en-US" dirty="0"/>
              <a:t>Key APIs:  </a:t>
            </a:r>
            <a:r>
              <a:rPr lang="en-US" dirty="0" err="1"/>
              <a:t>k_spinlock</a:t>
            </a:r>
            <a:endParaRPr lang="en-US" dirty="0"/>
          </a:p>
          <a:p>
            <a:endParaRPr lang="en-US" dirty="0"/>
          </a:p>
          <a:p>
            <a:r>
              <a:rPr lang="en-US" dirty="0"/>
              <a:t>atomic_* operations</a:t>
            </a:r>
          </a:p>
        </p:txBody>
      </p:sp>
    </p:spTree>
    <p:extLst>
      <p:ext uri="{BB962C8B-B14F-4D97-AF65-F5344CB8AC3E}">
        <p14:creationId xmlns:p14="http://schemas.microsoft.com/office/powerpoint/2010/main" val="19425735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8F514-D5B0-C30A-29FC-B41C5FAD0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AB1421-E9A2-5246-4003-90D66D4118A9}"/>
              </a:ext>
            </a:extLst>
          </p:cNvPr>
          <p:cNvSpPr txBox="1"/>
          <p:nvPr/>
        </p:nvSpPr>
        <p:spPr>
          <a:xfrm>
            <a:off x="1736271" y="226465"/>
            <a:ext cx="8474530" cy="5847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/>
              <a:t>Zephyr --SMP (Symmetric Multiprocessing)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E5525F-1F9A-39D6-5196-28CC42E110CC}"/>
              </a:ext>
            </a:extLst>
          </p:cNvPr>
          <p:cNvSpPr txBox="1"/>
          <p:nvPr/>
        </p:nvSpPr>
        <p:spPr>
          <a:xfrm>
            <a:off x="381000" y="1049331"/>
            <a:ext cx="60960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Interrupt Handling in SMP</a:t>
            </a:r>
          </a:p>
          <a:p>
            <a:pPr>
              <a:buNone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Interrupts may occur on </a:t>
            </a:r>
            <a:r>
              <a:rPr lang="en-US" b="1" dirty="0"/>
              <a:t>any CPU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Handled by CPU-local ISR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Zephyr ensures </a:t>
            </a:r>
            <a:r>
              <a:rPr lang="en-US" b="1" dirty="0"/>
              <a:t>proper routing and dispatching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8BE1B9-587B-73F4-3F36-A068728EA259}"/>
              </a:ext>
            </a:extLst>
          </p:cNvPr>
          <p:cNvSpPr txBox="1"/>
          <p:nvPr/>
        </p:nvSpPr>
        <p:spPr>
          <a:xfrm>
            <a:off x="7162801" y="1061667"/>
            <a:ext cx="4920342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 Thread Affinity &amp; CPU Binding</a:t>
            </a:r>
          </a:p>
          <a:p>
            <a:r>
              <a:rPr lang="en-US" dirty="0"/>
              <a:t>Threads can be pinned to specific CPUs</a:t>
            </a:r>
          </a:p>
          <a:p>
            <a:endParaRPr lang="en-US" dirty="0"/>
          </a:p>
          <a:p>
            <a:r>
              <a:rPr lang="en-US" dirty="0"/>
              <a:t>Useful for: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Real-time processing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Optimizing CPU cache usage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Enabled via: CONFIG_SCHED_CPU_MASK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FEC7D7-9EA4-2E81-8A42-7E1DA2ACE5C0}"/>
              </a:ext>
            </a:extLst>
          </p:cNvPr>
          <p:cNvSpPr txBox="1"/>
          <p:nvPr/>
        </p:nvSpPr>
        <p:spPr>
          <a:xfrm>
            <a:off x="381000" y="2820628"/>
            <a:ext cx="60960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Enabling SMP in Zephyr</a:t>
            </a:r>
          </a:p>
          <a:p>
            <a:r>
              <a:rPr lang="en-US" dirty="0"/>
              <a:t>Enable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CONFIG_SMP=y </a:t>
            </a:r>
            <a:r>
              <a:rPr lang="en-US" dirty="0"/>
              <a:t>in the </a:t>
            </a:r>
            <a:r>
              <a:rPr lang="en-US" dirty="0" err="1"/>
              <a:t>Kconfig</a:t>
            </a:r>
            <a:endParaRPr lang="en-US" dirty="0"/>
          </a:p>
          <a:p>
            <a:endParaRPr lang="en-US" dirty="0"/>
          </a:p>
          <a:p>
            <a:r>
              <a:rPr lang="en-US" dirty="0"/>
              <a:t>Supported only on: Multicore SoCs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Platforms like ARM Cortex-A, x86, RISC-V SMP, ARC HS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39EAA8B-91EF-0DC6-53F0-88B725A19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494144"/>
              </p:ext>
            </p:extLst>
          </p:nvPr>
        </p:nvGraphicFramePr>
        <p:xfrm>
          <a:off x="381000" y="4591925"/>
          <a:ext cx="11156949" cy="1828800"/>
        </p:xfrm>
        <a:graphic>
          <a:graphicData uri="http://schemas.openxmlformats.org/drawingml/2006/table">
            <a:tbl>
              <a:tblPr/>
              <a:tblGrid>
                <a:gridCol w="3718983">
                  <a:extLst>
                    <a:ext uri="{9D8B030D-6E8A-4147-A177-3AD203B41FA5}">
                      <a16:colId xmlns:a16="http://schemas.microsoft.com/office/drawing/2014/main" val="3239395807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2329144517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4007377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594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CPUs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785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Scheduling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Global run queue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Single-core queue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193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Thread migration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021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Sync needed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Spinlocks, atomics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011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38060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92D59-C2CA-FCDD-CA17-A5677D971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4A6289-96FC-4AE2-2F70-F0121FFDC61C}"/>
              </a:ext>
            </a:extLst>
          </p:cNvPr>
          <p:cNvSpPr txBox="1"/>
          <p:nvPr/>
        </p:nvSpPr>
        <p:spPr>
          <a:xfrm>
            <a:off x="2933699" y="2664865"/>
            <a:ext cx="6096000" cy="5847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/>
              <a:t>Zephyr RTOS – Queues: 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37068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81B22-60B8-354C-D980-184133FB9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EE6CEE-DA79-32A6-2A32-4DBFD49458EA}"/>
              </a:ext>
            </a:extLst>
          </p:cNvPr>
          <p:cNvSpPr txBox="1"/>
          <p:nvPr/>
        </p:nvSpPr>
        <p:spPr>
          <a:xfrm>
            <a:off x="469900" y="786670"/>
            <a:ext cx="11315700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Queue in Zephyr:: A </a:t>
            </a:r>
            <a:r>
              <a:rPr lang="en-US" dirty="0" err="1"/>
              <a:t>k_queue</a:t>
            </a:r>
            <a:r>
              <a:rPr lang="en-US" dirty="0"/>
              <a:t> is a kernel object used to pass </a:t>
            </a:r>
            <a:r>
              <a:rPr lang="en-US" b="1" dirty="0"/>
              <a:t>pointers to data items</a:t>
            </a:r>
            <a:r>
              <a:rPr lang="en-US" dirty="0"/>
              <a:t> (not the data itself) between threads in a </a:t>
            </a:r>
            <a:r>
              <a:rPr lang="en-US" b="1" dirty="0"/>
              <a:t>First-In-First-Out (FIFO)</a:t>
            </a:r>
            <a:r>
              <a:rPr lang="en-US" dirty="0"/>
              <a:t> manner. It supports </a:t>
            </a:r>
            <a:r>
              <a:rPr lang="en-US" b="1" dirty="0"/>
              <a:t>blocking, non-blocking, and timed</a:t>
            </a:r>
            <a:r>
              <a:rPr lang="en-US" dirty="0"/>
              <a:t> retrieval, and can be safely used from both </a:t>
            </a:r>
            <a:r>
              <a:rPr lang="en-US" b="1" dirty="0"/>
              <a:t>thread and ISR contexts</a:t>
            </a:r>
            <a:r>
              <a:rPr lang="en-US" dirty="0"/>
              <a:t>.</a:t>
            </a:r>
            <a:endParaRPr lang="en-US" dirty="0">
              <a:effectLst/>
            </a:endParaRPr>
          </a:p>
          <a:p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Implements a FIFO (First-In, First-Out) mechanism.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Data items are passed by pointers, not values.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6FB18D-EB6D-AA28-4C46-3469AF2F4088}"/>
              </a:ext>
            </a:extLst>
          </p:cNvPr>
          <p:cNvSpPr txBox="1"/>
          <p:nvPr/>
        </p:nvSpPr>
        <p:spPr>
          <a:xfrm>
            <a:off x="6184900" y="1617666"/>
            <a:ext cx="5537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Thread-safe and blocking (or timed) data access.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Efficient inter-thread communication.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Pointers only – no deep copy or structure copying.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Can be used in ISRs (Interrupt Service Routines).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D03B499-F810-0A5A-7AC6-0944D3EE7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603013"/>
              </p:ext>
            </p:extLst>
          </p:nvPr>
        </p:nvGraphicFramePr>
        <p:xfrm>
          <a:off x="527317" y="2897213"/>
          <a:ext cx="11156950" cy="3017520"/>
        </p:xfrm>
        <a:graphic>
          <a:graphicData uri="http://schemas.openxmlformats.org/drawingml/2006/table">
            <a:tbl>
              <a:tblPr/>
              <a:tblGrid>
                <a:gridCol w="4266064">
                  <a:extLst>
                    <a:ext uri="{9D8B030D-6E8A-4147-A177-3AD203B41FA5}">
                      <a16:colId xmlns:a16="http://schemas.microsoft.com/office/drawing/2014/main" val="4102061963"/>
                    </a:ext>
                  </a:extLst>
                </a:gridCol>
                <a:gridCol w="6890886">
                  <a:extLst>
                    <a:ext uri="{9D8B030D-6E8A-4147-A177-3AD203B41FA5}">
                      <a16:colId xmlns:a16="http://schemas.microsoft.com/office/drawing/2014/main" val="2248037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API 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621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k_queue_init()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Initialize a queue object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153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k_queue_append()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Append pointer to end of queue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41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k_queue_alloc_append()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Append with memory allocated from heap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003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k_queue_get()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Retrieve and remove head (supports timeout)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518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k_queue_peek_head()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Peek at the first item without removing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764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k_queue_peek_tail()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Peek at the last 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769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k_queue_remove()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Remove a specific 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632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/>
                        <a:t>k_queue_is_empty</a:t>
                      </a:r>
                      <a:r>
                        <a:rPr lang="en-US" sz="160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Check if queue is empty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48680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2D605C8-73F8-B654-EDD4-BD1ABA61EE61}"/>
              </a:ext>
            </a:extLst>
          </p:cNvPr>
          <p:cNvSpPr txBox="1"/>
          <p:nvPr/>
        </p:nvSpPr>
        <p:spPr>
          <a:xfrm>
            <a:off x="2679700" y="122677"/>
            <a:ext cx="6096000" cy="5847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/>
              <a:t>Zephyr RTOS – Queues: 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078219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1FD58-E6E8-5911-5A31-A3377A0E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0710AC0-F802-312F-DF06-A66E815FDA2D}"/>
              </a:ext>
            </a:extLst>
          </p:cNvPr>
          <p:cNvSpPr txBox="1"/>
          <p:nvPr/>
        </p:nvSpPr>
        <p:spPr>
          <a:xfrm>
            <a:off x="6731000" y="3965138"/>
            <a:ext cx="52705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If </a:t>
            </a:r>
            <a:r>
              <a:rPr lang="en-US" dirty="0" err="1"/>
              <a:t>k_queue_get</a:t>
            </a:r>
            <a:r>
              <a:rPr lang="en-US" dirty="0"/>
              <a:t>() is called and queue is empty: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Calling thread blocks until: An item is added  Or timeout expires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Safe across threads and ISRs.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877F63-05CD-58FA-166A-8F0BDABB105F}"/>
              </a:ext>
            </a:extLst>
          </p:cNvPr>
          <p:cNvSpPr txBox="1"/>
          <p:nvPr/>
        </p:nvSpPr>
        <p:spPr>
          <a:xfrm>
            <a:off x="2336799" y="213765"/>
            <a:ext cx="6096000" cy="46166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Zephyr RTOS – Queues: </a:t>
            </a:r>
            <a:endParaRPr lang="en-US" sz="2400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D94807-8C85-E6BA-C055-CAF3A63CE73F}"/>
              </a:ext>
            </a:extLst>
          </p:cNvPr>
          <p:cNvSpPr txBox="1"/>
          <p:nvPr/>
        </p:nvSpPr>
        <p:spPr>
          <a:xfrm>
            <a:off x="76200" y="996077"/>
            <a:ext cx="6921500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Best Practices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Always validate pointer data before use.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Use </a:t>
            </a:r>
            <a:r>
              <a:rPr lang="en-US" dirty="0" err="1"/>
              <a:t>k_queue_is_empty</a:t>
            </a:r>
            <a:r>
              <a:rPr lang="en-US" dirty="0"/>
              <a:t>() before operations if needed.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Use timeout options (K_NO_WAIT, K_MSEC(x), K_FOREVER) wisely.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Combine with memory pools or heap for allocation safety.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56C211-E8C4-527F-9D4C-15074D33B0B2}"/>
              </a:ext>
            </a:extLst>
          </p:cNvPr>
          <p:cNvSpPr txBox="1"/>
          <p:nvPr/>
        </p:nvSpPr>
        <p:spPr>
          <a:xfrm>
            <a:off x="76200" y="3965138"/>
            <a:ext cx="634365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Summary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Queues provide efficient, thread-safe data passing.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Easy to use and integrate in real-time threads.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Useful for inter-thread coordination in embedded systems.</a:t>
            </a:r>
          </a:p>
        </p:txBody>
      </p:sp>
    </p:spTree>
    <p:extLst>
      <p:ext uri="{BB962C8B-B14F-4D97-AF65-F5344CB8AC3E}">
        <p14:creationId xmlns:p14="http://schemas.microsoft.com/office/powerpoint/2010/main" val="16564055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0E2EE-3201-CB98-D505-D54B575BB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0433C3-05D1-155B-6E1C-6D861D898FEE}"/>
              </a:ext>
            </a:extLst>
          </p:cNvPr>
          <p:cNvSpPr txBox="1"/>
          <p:nvPr/>
        </p:nvSpPr>
        <p:spPr>
          <a:xfrm>
            <a:off x="2933699" y="2664865"/>
            <a:ext cx="6096000" cy="107721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/>
              <a:t>Zephyr RTOS FIFO (First-In-First-Out) – Kernel Object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243725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0D881-63E7-8388-E5DC-DE551B709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EE0C96-F7B4-8617-24A7-44B14621F37C}"/>
              </a:ext>
            </a:extLst>
          </p:cNvPr>
          <p:cNvSpPr txBox="1"/>
          <p:nvPr/>
        </p:nvSpPr>
        <p:spPr>
          <a:xfrm>
            <a:off x="2692399" y="137565"/>
            <a:ext cx="6096000" cy="4001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Zephyr RTOS FIFO (First-In-First-Out) – Kernel Object</a:t>
            </a:r>
            <a:endParaRPr lang="en-US" sz="20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00F0FD-5932-A571-32B5-67D9BC1624BF}"/>
              </a:ext>
            </a:extLst>
          </p:cNvPr>
          <p:cNvSpPr txBox="1"/>
          <p:nvPr/>
        </p:nvSpPr>
        <p:spPr>
          <a:xfrm>
            <a:off x="482600" y="675839"/>
            <a:ext cx="112903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 FIFO in Zephyr :: A FIFO (First-In-First-Out) is a kernel object for passing data items between threads.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It ensures queue-style ordering: First item added is the first retrieved.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Used for: Thread communication, event queues, and background task handling.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53B81D-ABDE-F4FC-8720-9FE23B82CFAA}"/>
              </a:ext>
            </a:extLst>
          </p:cNvPr>
          <p:cNvSpPr txBox="1"/>
          <p:nvPr/>
        </p:nvSpPr>
        <p:spPr>
          <a:xfrm>
            <a:off x="368300" y="1897440"/>
            <a:ext cx="6096000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u="sng" dirty="0"/>
              <a:t>Key Features of Zephyr FIFO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Thread-safe data exchange.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Supports blocking and non-blocking reads.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Designed for </a:t>
            </a:r>
            <a:r>
              <a:rPr lang="en-US" sz="1600" dirty="0" err="1"/>
              <a:t>sys_snode_t</a:t>
            </a:r>
            <a:r>
              <a:rPr lang="en-US" sz="1600" dirty="0"/>
              <a:t>-based items (singly linked list node).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Safe for use in both thread and ISR context.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Lightweight compared to </a:t>
            </a:r>
            <a:r>
              <a:rPr lang="en-US" sz="1600" dirty="0" err="1"/>
              <a:t>k_queue</a:t>
            </a:r>
            <a:r>
              <a:rPr lang="en-US" sz="1600" dirty="0"/>
              <a:t>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2F87BC-A7B2-881C-4030-A6E34F658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407847"/>
              </p:ext>
            </p:extLst>
          </p:nvPr>
        </p:nvGraphicFramePr>
        <p:xfrm>
          <a:off x="368300" y="3840706"/>
          <a:ext cx="11156950" cy="2194560"/>
        </p:xfrm>
        <a:graphic>
          <a:graphicData uri="http://schemas.openxmlformats.org/drawingml/2006/table">
            <a:tbl>
              <a:tblPr/>
              <a:tblGrid>
                <a:gridCol w="4051300">
                  <a:extLst>
                    <a:ext uri="{9D8B030D-6E8A-4147-A177-3AD203B41FA5}">
                      <a16:colId xmlns:a16="http://schemas.microsoft.com/office/drawing/2014/main" val="2493070581"/>
                    </a:ext>
                  </a:extLst>
                </a:gridCol>
                <a:gridCol w="7105650">
                  <a:extLst>
                    <a:ext uri="{9D8B030D-6E8A-4147-A177-3AD203B41FA5}">
                      <a16:colId xmlns:a16="http://schemas.microsoft.com/office/drawing/2014/main" val="31713364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k_fifo_init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Initialize FIFO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259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k_fifo_put()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Enqueue an 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034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k_fifo_get()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Dequeue an item (blocking or timed)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676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k_fifo_is_empty()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Check if FIFO is empty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604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k_fifo_peek_head()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Peek at head without removing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674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k_fifo_cancel_wait()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Cancel pending FIFO get() calls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6867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DBE6FDB-40B6-0E93-3085-B1B32C41E02A}"/>
              </a:ext>
            </a:extLst>
          </p:cNvPr>
          <p:cNvSpPr txBox="1"/>
          <p:nvPr/>
        </p:nvSpPr>
        <p:spPr>
          <a:xfrm>
            <a:off x="6813133" y="1897440"/>
            <a:ext cx="5010567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dk1"/>
                </a:solidFill>
              </a:rPr>
              <a:t>FIFO is a powerful, simple way to pass data between threads.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dk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dk1"/>
                </a:solidFill>
              </a:rPr>
              <a:t>Lightweight alternative to queues.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dk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dk1"/>
                </a:solidFill>
              </a:rPr>
              <a:t>Provides blocking, non-blocking, and timed retrieval.</a:t>
            </a:r>
          </a:p>
        </p:txBody>
      </p:sp>
    </p:spTree>
    <p:extLst>
      <p:ext uri="{BB962C8B-B14F-4D97-AF65-F5344CB8AC3E}">
        <p14:creationId xmlns:p14="http://schemas.microsoft.com/office/powerpoint/2010/main" val="5825328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57307-EF14-FA70-329D-7DA67FD7F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997EF1-F4EC-C206-7381-72529D8F4781}"/>
              </a:ext>
            </a:extLst>
          </p:cNvPr>
          <p:cNvSpPr txBox="1"/>
          <p:nvPr/>
        </p:nvSpPr>
        <p:spPr>
          <a:xfrm>
            <a:off x="2235198" y="336032"/>
            <a:ext cx="7251701" cy="46166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Zephyr RTOS FIFO (First-In-First-Out) – Kernel Object</a:t>
            </a:r>
            <a:endParaRPr lang="en-US" sz="24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41512D-D5B3-BA3A-46B0-0B2F10D4E40E}"/>
              </a:ext>
            </a:extLst>
          </p:cNvPr>
          <p:cNvSpPr txBox="1"/>
          <p:nvPr/>
        </p:nvSpPr>
        <p:spPr>
          <a:xfrm>
            <a:off x="326862" y="1101705"/>
            <a:ext cx="5765800" cy="4801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u="sng" dirty="0"/>
              <a:t> FIFO Initialization</a:t>
            </a:r>
          </a:p>
          <a:p>
            <a:endParaRPr lang="en-US" dirty="0"/>
          </a:p>
          <a:p>
            <a:r>
              <a:rPr lang="en-US" dirty="0"/>
              <a:t>struct </a:t>
            </a:r>
            <a:r>
              <a:rPr lang="en-US" dirty="0" err="1"/>
              <a:t>k_fifo</a:t>
            </a:r>
            <a:r>
              <a:rPr lang="en-US" dirty="0"/>
              <a:t> </a:t>
            </a:r>
            <a:r>
              <a:rPr lang="en-US" dirty="0" err="1"/>
              <a:t>my_fifo</a:t>
            </a:r>
            <a:r>
              <a:rPr lang="en-US" dirty="0"/>
              <a:t>;</a:t>
            </a:r>
          </a:p>
          <a:p>
            <a:r>
              <a:rPr lang="en-US" dirty="0" err="1"/>
              <a:t>k_fifo_init</a:t>
            </a:r>
            <a:r>
              <a:rPr lang="en-US" dirty="0"/>
              <a:t>(&amp;</a:t>
            </a:r>
            <a:r>
              <a:rPr lang="en-US" dirty="0" err="1"/>
              <a:t>my_fifo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K_FIFO_DEFINE(</a:t>
            </a:r>
            <a:r>
              <a:rPr lang="en-US" dirty="0" err="1"/>
              <a:t>my_fifo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b="1" u="sng" dirty="0"/>
              <a:t>Inserting an Item</a:t>
            </a:r>
          </a:p>
          <a:p>
            <a:r>
              <a:rPr lang="en-US" dirty="0"/>
              <a:t>struct </a:t>
            </a:r>
            <a:r>
              <a:rPr lang="en-US" dirty="0" err="1"/>
              <a:t>data_item</a:t>
            </a:r>
            <a:r>
              <a:rPr lang="en-US" dirty="0"/>
              <a:t> </a:t>
            </a:r>
            <a:r>
              <a:rPr lang="en-US" dirty="0" err="1"/>
              <a:t>my_item</a:t>
            </a:r>
            <a:r>
              <a:rPr lang="en-US" dirty="0"/>
              <a:t>;</a:t>
            </a:r>
          </a:p>
          <a:p>
            <a:r>
              <a:rPr lang="en-US" dirty="0" err="1"/>
              <a:t>my_item.data</a:t>
            </a:r>
            <a:r>
              <a:rPr lang="en-US" dirty="0"/>
              <a:t> = 42;</a:t>
            </a:r>
          </a:p>
          <a:p>
            <a:r>
              <a:rPr lang="en-US" dirty="0" err="1"/>
              <a:t>k_fifo_put</a:t>
            </a:r>
            <a:r>
              <a:rPr lang="en-US" dirty="0"/>
              <a:t>(&amp;</a:t>
            </a:r>
            <a:r>
              <a:rPr lang="en-US" dirty="0" err="1"/>
              <a:t>my_fifo</a:t>
            </a:r>
            <a:r>
              <a:rPr lang="en-US" dirty="0"/>
              <a:t>, &amp;</a:t>
            </a:r>
            <a:r>
              <a:rPr lang="en-US" dirty="0" err="1"/>
              <a:t>my_item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b="1" u="sng" dirty="0"/>
              <a:t>Retrieving an Item</a:t>
            </a:r>
          </a:p>
          <a:p>
            <a:endParaRPr lang="en-US" dirty="0"/>
          </a:p>
          <a:p>
            <a:r>
              <a:rPr lang="en-US" dirty="0"/>
              <a:t>struct </a:t>
            </a:r>
            <a:r>
              <a:rPr lang="en-US" dirty="0" err="1"/>
              <a:t>data_item</a:t>
            </a:r>
            <a:r>
              <a:rPr lang="en-US" dirty="0"/>
              <a:t> *item;</a:t>
            </a:r>
          </a:p>
          <a:p>
            <a:r>
              <a:rPr lang="en-US" dirty="0"/>
              <a:t>item = </a:t>
            </a:r>
            <a:r>
              <a:rPr lang="en-US" dirty="0" err="1"/>
              <a:t>k_fifo_get</a:t>
            </a:r>
            <a:r>
              <a:rPr lang="en-US" dirty="0"/>
              <a:t>(&amp;</a:t>
            </a:r>
            <a:r>
              <a:rPr lang="en-US" dirty="0" err="1"/>
              <a:t>my_fifo</a:t>
            </a:r>
            <a:r>
              <a:rPr lang="en-US" dirty="0"/>
              <a:t>, K_FOREVER); // Blocking</a:t>
            </a:r>
          </a:p>
          <a:p>
            <a:r>
              <a:rPr lang="en-US" dirty="0"/>
              <a:t>item = </a:t>
            </a:r>
            <a:r>
              <a:rPr lang="en-US" dirty="0" err="1"/>
              <a:t>k_fifo_get</a:t>
            </a:r>
            <a:r>
              <a:rPr lang="en-US" dirty="0"/>
              <a:t>(&amp;</a:t>
            </a:r>
            <a:r>
              <a:rPr lang="en-US" dirty="0" err="1"/>
              <a:t>my_fifo</a:t>
            </a:r>
            <a:r>
              <a:rPr lang="en-US" dirty="0"/>
              <a:t>, K_NO_WAIT); // Non-blocking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40E131-D218-9547-5134-C9AA3E00A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271" y="1139772"/>
            <a:ext cx="5551374" cy="11335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203105-2605-9776-1F4B-A0F0508F1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271" y="2957448"/>
            <a:ext cx="5378867" cy="916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5758137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7035B-28EE-16BB-23C2-03E781F0F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E0812D-CD75-4DEE-4739-5CC2E191B301}"/>
              </a:ext>
            </a:extLst>
          </p:cNvPr>
          <p:cNvSpPr txBox="1"/>
          <p:nvPr/>
        </p:nvSpPr>
        <p:spPr>
          <a:xfrm>
            <a:off x="2933699" y="2664865"/>
            <a:ext cx="6096000" cy="5847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dirty="0"/>
              <a:t>Zephyr RTOS  Stacks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758346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00C01-1076-5AC5-BD39-85E1F9D4E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335656-6143-113C-21F5-510943E46A6C}"/>
              </a:ext>
            </a:extLst>
          </p:cNvPr>
          <p:cNvSpPr txBox="1"/>
          <p:nvPr/>
        </p:nvSpPr>
        <p:spPr>
          <a:xfrm>
            <a:off x="2438399" y="404265"/>
            <a:ext cx="6096000" cy="5847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dirty="0"/>
              <a:t>Zephyr RTOS  Stacks</a:t>
            </a:r>
            <a:endParaRPr lang="en-US" sz="320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0C9E3-7FEB-93E6-7848-C4B9F4CDA911}"/>
              </a:ext>
            </a:extLst>
          </p:cNvPr>
          <p:cNvSpPr txBox="1"/>
          <p:nvPr/>
        </p:nvSpPr>
        <p:spPr>
          <a:xfrm>
            <a:off x="517526" y="1265659"/>
            <a:ext cx="1115694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Stack is a kernel object for raw data transfer using LIFO order.</a:t>
            </a:r>
          </a:p>
          <a:p>
            <a:r>
              <a:rPr lang="en-US" dirty="0"/>
              <a:t>Used to pass </a:t>
            </a:r>
            <a:r>
              <a:rPr lang="en-US" dirty="0" err="1"/>
              <a:t>uintptr_t</a:t>
            </a:r>
            <a:r>
              <a:rPr lang="en-US" dirty="0"/>
              <a:t> values (pointers or integers) between threads.</a:t>
            </a:r>
          </a:p>
          <a:p>
            <a:r>
              <a:rPr lang="en-US" dirty="0"/>
              <a:t>Supports static and dynamic initialization. Thread-safe and supports push from ISR context.</a:t>
            </a:r>
          </a:p>
          <a:p>
            <a:r>
              <a:rPr lang="en-US" dirty="0"/>
              <a:t>Blocking and non-blocking APIs available.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3F188C7-EAD7-5393-3C5B-904193117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926503"/>
              </p:ext>
            </p:extLst>
          </p:nvPr>
        </p:nvGraphicFramePr>
        <p:xfrm>
          <a:off x="517525" y="2966988"/>
          <a:ext cx="11156950" cy="2194560"/>
        </p:xfrm>
        <a:graphic>
          <a:graphicData uri="http://schemas.openxmlformats.org/drawingml/2006/table">
            <a:tbl>
              <a:tblPr/>
              <a:tblGrid>
                <a:gridCol w="3517900">
                  <a:extLst>
                    <a:ext uri="{9D8B030D-6E8A-4147-A177-3AD203B41FA5}">
                      <a16:colId xmlns:a16="http://schemas.microsoft.com/office/drawing/2014/main" val="4139515688"/>
                    </a:ext>
                  </a:extLst>
                </a:gridCol>
                <a:gridCol w="7639050">
                  <a:extLst>
                    <a:ext uri="{9D8B030D-6E8A-4147-A177-3AD203B41FA5}">
                      <a16:colId xmlns:a16="http://schemas.microsoft.com/office/drawing/2014/main" val="35021203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k_stack_init()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Initializes a stack object (statically declared stack buffer).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340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k_stack_alloc_init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Initializes stack with dynamically allocated memory.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872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k_stack_push()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Pushes a pointer-sized item onto the stack.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958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k_stack_pop()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Pops an item from the stack; blocks if empty.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80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k_stack_pop_timeout()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Pops with a timeout period.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795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k_stack_cleanup()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Frees dynamically allocated memory (if used with </a:t>
                      </a:r>
                      <a:r>
                        <a:rPr lang="en-US" dirty="0" err="1"/>
                        <a:t>k_stack_alloc_init</a:t>
                      </a:r>
                      <a:r>
                        <a:rPr lang="en-US" dirty="0"/>
                        <a:t>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530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0018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FD76B-9491-A28D-B00D-D647E20BF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FC7D39-7B00-ECFF-23D5-68BCB5645C71}"/>
              </a:ext>
            </a:extLst>
          </p:cNvPr>
          <p:cNvSpPr txBox="1"/>
          <p:nvPr/>
        </p:nvSpPr>
        <p:spPr>
          <a:xfrm>
            <a:off x="152400" y="1534636"/>
            <a:ext cx="63627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Purpose of Stacks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for </a:t>
            </a:r>
            <a:r>
              <a:rPr lang="en-US" b="1" dirty="0"/>
              <a:t>thread synchronization and communication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Efficient mechanism to manage </a:t>
            </a:r>
            <a:r>
              <a:rPr lang="en-US" b="1" dirty="0"/>
              <a:t>shared resources</a:t>
            </a:r>
            <a:r>
              <a:rPr lang="en-US" dirty="0"/>
              <a:t> or </a:t>
            </a:r>
            <a:r>
              <a:rPr lang="en-US" b="1" dirty="0"/>
              <a:t>task items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Suitable for </a:t>
            </a:r>
            <a:r>
              <a:rPr lang="en-US" b="1" dirty="0"/>
              <a:t>producer-consumer</a:t>
            </a:r>
            <a:r>
              <a:rPr lang="en-US" dirty="0"/>
              <a:t> scenarios.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56EC0D-2AA0-5DC7-01A5-08EE5469DC61}"/>
              </a:ext>
            </a:extLst>
          </p:cNvPr>
          <p:cNvSpPr txBox="1"/>
          <p:nvPr/>
        </p:nvSpPr>
        <p:spPr>
          <a:xfrm>
            <a:off x="2438399" y="404265"/>
            <a:ext cx="6096000" cy="5847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dirty="0"/>
              <a:t>Zephyr RTOS  Stacks</a:t>
            </a:r>
            <a:endParaRPr lang="en-US" sz="3200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167488-E0B1-1982-1809-DB43D41159D8}"/>
              </a:ext>
            </a:extLst>
          </p:cNvPr>
          <p:cNvSpPr txBox="1"/>
          <p:nvPr/>
        </p:nvSpPr>
        <p:spPr>
          <a:xfrm>
            <a:off x="152400" y="3234373"/>
            <a:ext cx="63627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Characteristics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Fixed size (defined at creation).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be used in both </a:t>
            </a:r>
            <a:r>
              <a:rPr lang="en-US" b="1" dirty="0"/>
              <a:t>thread and ISR</a:t>
            </a:r>
            <a:r>
              <a:rPr lang="en-US" dirty="0"/>
              <a:t> contexts (for pushing).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Pointers only: stack stores </a:t>
            </a:r>
            <a:r>
              <a:rPr lang="en-US" b="1" dirty="0"/>
              <a:t>pointer-sized values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Suitable for </a:t>
            </a:r>
            <a:r>
              <a:rPr lang="en-US" b="1" dirty="0"/>
              <a:t>simple object pooling or task signaling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7B6B74-6CA3-F113-55FA-EFAC06DF663D}"/>
              </a:ext>
            </a:extLst>
          </p:cNvPr>
          <p:cNvSpPr txBox="1"/>
          <p:nvPr/>
        </p:nvSpPr>
        <p:spPr>
          <a:xfrm>
            <a:off x="6934201" y="1534636"/>
            <a:ext cx="5105400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K_STACK_DEFINE(</a:t>
            </a:r>
            <a:r>
              <a:rPr lang="en-US" dirty="0" err="1"/>
              <a:t>my_stack</a:t>
            </a:r>
            <a:r>
              <a:rPr lang="en-US" dirty="0"/>
              <a:t>, 10);</a:t>
            </a:r>
          </a:p>
          <a:p>
            <a:endParaRPr lang="en-US" dirty="0"/>
          </a:p>
          <a:p>
            <a:r>
              <a:rPr lang="en-US" dirty="0"/>
              <a:t>void </a:t>
            </a:r>
            <a:r>
              <a:rPr lang="en-US" dirty="0" err="1"/>
              <a:t>producer_thread</a:t>
            </a:r>
            <a:r>
              <a:rPr lang="en-US" dirty="0"/>
              <a:t>(void) {</a:t>
            </a:r>
          </a:p>
          <a:p>
            <a:r>
              <a:rPr lang="en-US" dirty="0"/>
              <a:t>    int item = 123;</a:t>
            </a:r>
          </a:p>
          <a:p>
            <a:r>
              <a:rPr lang="en-US" dirty="0"/>
              <a:t>    </a:t>
            </a:r>
            <a:r>
              <a:rPr lang="en-US" dirty="0" err="1"/>
              <a:t>k_stack_push</a:t>
            </a:r>
            <a:r>
              <a:rPr lang="en-US" dirty="0"/>
              <a:t>(&amp;</a:t>
            </a:r>
            <a:r>
              <a:rPr lang="en-US" dirty="0" err="1"/>
              <a:t>my_stack</a:t>
            </a:r>
            <a:r>
              <a:rPr lang="en-US" dirty="0"/>
              <a:t>, (void *)item);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void </a:t>
            </a:r>
            <a:r>
              <a:rPr lang="en-US" dirty="0" err="1"/>
              <a:t>consumer_thread</a:t>
            </a:r>
            <a:r>
              <a:rPr lang="en-US" dirty="0"/>
              <a:t>(void) {</a:t>
            </a:r>
          </a:p>
          <a:p>
            <a:r>
              <a:rPr lang="en-US" dirty="0"/>
              <a:t>    void *item;</a:t>
            </a:r>
          </a:p>
          <a:p>
            <a:r>
              <a:rPr lang="en-US" dirty="0"/>
              <a:t>    </a:t>
            </a:r>
            <a:r>
              <a:rPr lang="en-US" dirty="0" err="1"/>
              <a:t>k_stack_pop</a:t>
            </a:r>
            <a:r>
              <a:rPr lang="en-US" dirty="0"/>
              <a:t>(&amp;</a:t>
            </a:r>
            <a:r>
              <a:rPr lang="en-US" dirty="0" err="1"/>
              <a:t>my_stack</a:t>
            </a:r>
            <a:r>
              <a:rPr lang="en-US" dirty="0"/>
              <a:t>, &amp;item, K_FOREVER);</a:t>
            </a:r>
          </a:p>
          <a:p>
            <a:r>
              <a:rPr lang="en-US" dirty="0"/>
              <a:t>    </a:t>
            </a:r>
            <a:r>
              <a:rPr lang="en-US" dirty="0" err="1"/>
              <a:t>printk</a:t>
            </a:r>
            <a:r>
              <a:rPr lang="en-US" dirty="0"/>
              <a:t>("Got item: %d\n", (int)item);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257434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610F1-3E7E-CCE1-0E26-920B01548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5EC01B-8EF4-F60B-67CA-E8F016988E7B}"/>
              </a:ext>
            </a:extLst>
          </p:cNvPr>
          <p:cNvSpPr txBox="1"/>
          <p:nvPr/>
        </p:nvSpPr>
        <p:spPr>
          <a:xfrm>
            <a:off x="2933699" y="2664865"/>
            <a:ext cx="6096000" cy="107721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/>
              <a:t>Zephyr Message Queues (</a:t>
            </a:r>
            <a:r>
              <a:rPr lang="en-US" sz="3200" dirty="0" err="1"/>
              <a:t>k_msgq</a:t>
            </a:r>
            <a:r>
              <a:rPr lang="en-US" sz="3200" dirty="0"/>
              <a:t>)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495304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696B9-217A-33D6-7320-E9B5B765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6F6A04-AFE4-B931-788B-AC9B36B116D0}"/>
              </a:ext>
            </a:extLst>
          </p:cNvPr>
          <p:cNvSpPr txBox="1"/>
          <p:nvPr/>
        </p:nvSpPr>
        <p:spPr>
          <a:xfrm>
            <a:off x="2425698" y="302665"/>
            <a:ext cx="6921501" cy="46166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Zephyr Message Queues (</a:t>
            </a:r>
            <a:r>
              <a:rPr lang="en-US" sz="2400" dirty="0" err="1"/>
              <a:t>k_msgq</a:t>
            </a:r>
            <a:r>
              <a:rPr lang="en-US" sz="2400" dirty="0"/>
              <a:t>)</a:t>
            </a:r>
            <a:endParaRPr lang="en-US" sz="2400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282B74-8E72-2228-6D27-829A0A6A780C}"/>
              </a:ext>
            </a:extLst>
          </p:cNvPr>
          <p:cNvSpPr txBox="1"/>
          <p:nvPr/>
        </p:nvSpPr>
        <p:spPr>
          <a:xfrm>
            <a:off x="584200" y="975836"/>
            <a:ext cx="9347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Message Queues : </a:t>
            </a:r>
            <a:r>
              <a:rPr lang="en-US" dirty="0"/>
              <a:t>Part of Zephyr’s </a:t>
            </a:r>
            <a:r>
              <a:rPr lang="en-US" b="1" dirty="0"/>
              <a:t>kernel IPC mechanisms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for </a:t>
            </a:r>
            <a:r>
              <a:rPr lang="en-US" b="1" dirty="0"/>
              <a:t>inter-thread</a:t>
            </a:r>
            <a:r>
              <a:rPr lang="en-US" dirty="0"/>
              <a:t> or </a:t>
            </a:r>
            <a:r>
              <a:rPr lang="en-US" b="1" dirty="0"/>
              <a:t>ISR-to-thread</a:t>
            </a:r>
            <a:r>
              <a:rPr lang="en-US" dirty="0"/>
              <a:t>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Transfers </a:t>
            </a:r>
            <a:r>
              <a:rPr lang="en-US" b="1" dirty="0"/>
              <a:t>fixed-size messages</a:t>
            </a:r>
            <a:r>
              <a:rPr lang="en-US" dirty="0"/>
              <a:t> in </a:t>
            </a:r>
            <a:r>
              <a:rPr lang="en-US" b="1" dirty="0"/>
              <a:t>FIFO order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for structured data exchange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363A8-D555-8CED-A65A-CA23EB531D2D}"/>
              </a:ext>
            </a:extLst>
          </p:cNvPr>
          <p:cNvSpPr txBox="1"/>
          <p:nvPr/>
        </p:nvSpPr>
        <p:spPr>
          <a:xfrm>
            <a:off x="393700" y="2810639"/>
            <a:ext cx="60960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u="sng" dirty="0"/>
              <a:t>Key Features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FIFO behavior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Fixed-size message storage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Thread-safe and ISR-safe (with limitations)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Can be used with </a:t>
            </a:r>
            <a:r>
              <a:rPr lang="en-US" dirty="0" err="1"/>
              <a:t>k_poll</a:t>
            </a:r>
            <a:r>
              <a:rPr lang="en-US" dirty="0"/>
              <a:t>()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Statically or dynamically allocated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DD475A-3A47-5AD6-7356-B2E03D4DC101}"/>
              </a:ext>
            </a:extLst>
          </p:cNvPr>
          <p:cNvSpPr txBox="1"/>
          <p:nvPr/>
        </p:nvSpPr>
        <p:spPr>
          <a:xfrm>
            <a:off x="6889749" y="2810639"/>
            <a:ext cx="4914900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u="sng" dirty="0"/>
              <a:t> Defining a Message Queue</a:t>
            </a:r>
          </a:p>
          <a:p>
            <a:r>
              <a:rPr lang="en-US" sz="1600" dirty="0"/>
              <a:t>K_MSGQ_DEFINE(name, </a:t>
            </a:r>
            <a:r>
              <a:rPr lang="en-US" sz="1600" dirty="0" err="1"/>
              <a:t>msg_size</a:t>
            </a:r>
            <a:r>
              <a:rPr lang="en-US" sz="1600" dirty="0"/>
              <a:t>, </a:t>
            </a:r>
            <a:r>
              <a:rPr lang="en-US" sz="1600" dirty="0" err="1"/>
              <a:t>max_msgs</a:t>
            </a:r>
            <a:r>
              <a:rPr lang="en-US" sz="1600" dirty="0"/>
              <a:t>, align);</a:t>
            </a:r>
          </a:p>
          <a:p>
            <a:endParaRPr lang="en-US" sz="1600" dirty="0"/>
          </a:p>
          <a:p>
            <a:r>
              <a:rPr lang="en-US" sz="1600" dirty="0"/>
              <a:t>name: Message queue name</a:t>
            </a:r>
          </a:p>
          <a:p>
            <a:r>
              <a:rPr lang="en-US" sz="1600" dirty="0" err="1"/>
              <a:t>msg_size</a:t>
            </a:r>
            <a:r>
              <a:rPr lang="en-US" sz="1600" dirty="0"/>
              <a:t>: Size of each message</a:t>
            </a:r>
          </a:p>
          <a:p>
            <a:r>
              <a:rPr lang="en-US" sz="1600" dirty="0" err="1"/>
              <a:t>max_msgs</a:t>
            </a:r>
            <a:r>
              <a:rPr lang="en-US" sz="1600" dirty="0"/>
              <a:t>: Max number of messages</a:t>
            </a:r>
          </a:p>
          <a:p>
            <a:r>
              <a:rPr lang="en-US" sz="1600" dirty="0"/>
              <a:t>align: Memory alignment (e.g., 4)</a:t>
            </a:r>
          </a:p>
        </p:txBody>
      </p:sp>
    </p:spTree>
    <p:extLst>
      <p:ext uri="{BB962C8B-B14F-4D97-AF65-F5344CB8AC3E}">
        <p14:creationId xmlns:p14="http://schemas.microsoft.com/office/powerpoint/2010/main" val="31309762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80456-C6BA-F5DA-8918-E23A68D5E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D349AB-8A1C-083C-0485-98D89E5BFB39}"/>
              </a:ext>
            </a:extLst>
          </p:cNvPr>
          <p:cNvSpPr txBox="1"/>
          <p:nvPr/>
        </p:nvSpPr>
        <p:spPr>
          <a:xfrm>
            <a:off x="2349498" y="239165"/>
            <a:ext cx="7708901" cy="5232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dirty="0"/>
              <a:t>Zephyr Message Queues (</a:t>
            </a:r>
            <a:r>
              <a:rPr lang="en-US" sz="2800" dirty="0" err="1"/>
              <a:t>k_msgq</a:t>
            </a:r>
            <a:r>
              <a:rPr lang="en-US" sz="2800" dirty="0"/>
              <a:t>)</a:t>
            </a:r>
            <a:endParaRPr lang="en-US" sz="2800" dirty="0">
              <a:effectLst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D976C4-CC2D-DA7F-D93E-0B7598CC5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89966"/>
              </p:ext>
            </p:extLst>
          </p:nvPr>
        </p:nvGraphicFramePr>
        <p:xfrm>
          <a:off x="279399" y="1269643"/>
          <a:ext cx="6400801" cy="2468880"/>
        </p:xfrm>
        <a:graphic>
          <a:graphicData uri="http://schemas.openxmlformats.org/drawingml/2006/table">
            <a:tbl>
              <a:tblPr/>
              <a:tblGrid>
                <a:gridCol w="1803401">
                  <a:extLst>
                    <a:ext uri="{9D8B030D-6E8A-4147-A177-3AD203B41FA5}">
                      <a16:colId xmlns:a16="http://schemas.microsoft.com/office/drawing/2014/main" val="1981149395"/>
                    </a:ext>
                  </a:extLst>
                </a:gridCol>
                <a:gridCol w="4597400">
                  <a:extLst>
                    <a:ext uri="{9D8B030D-6E8A-4147-A177-3AD203B41FA5}">
                      <a16:colId xmlns:a16="http://schemas.microsoft.com/office/drawing/2014/main" val="22609996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793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k_msgq_put()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Enqueue a message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746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k_msgq_get()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Dequeue a message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322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k_msgq_peek()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Peek at first message without removing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51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k_msgq_purge()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Clear all messages in the queue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253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k_msgq_num_free_get()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 number of free slots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76253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D71AD13-D67E-C8C1-9ACB-2E4B5EAAD6C2}"/>
              </a:ext>
            </a:extLst>
          </p:cNvPr>
          <p:cNvSpPr txBox="1"/>
          <p:nvPr/>
        </p:nvSpPr>
        <p:spPr>
          <a:xfrm>
            <a:off x="6978648" y="1269643"/>
            <a:ext cx="4933953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u="sng" dirty="0"/>
              <a:t>Dynamic Allocation</a:t>
            </a:r>
          </a:p>
          <a:p>
            <a:endParaRPr lang="en-US" dirty="0"/>
          </a:p>
          <a:p>
            <a:r>
              <a:rPr lang="en-US" dirty="0"/>
              <a:t>int </a:t>
            </a:r>
            <a:r>
              <a:rPr lang="en-US" dirty="0" err="1"/>
              <a:t>k_msgq_alloc_init</a:t>
            </a:r>
            <a:r>
              <a:rPr lang="en-US" dirty="0"/>
              <a:t>(struct </a:t>
            </a:r>
            <a:r>
              <a:rPr lang="en-US" dirty="0" err="1"/>
              <a:t>k_msgq</a:t>
            </a:r>
            <a:r>
              <a:rPr lang="en-US" dirty="0"/>
              <a:t> *</a:t>
            </a:r>
            <a:r>
              <a:rPr lang="en-US" dirty="0" err="1"/>
              <a:t>msgq</a:t>
            </a:r>
            <a:r>
              <a:rPr lang="en-US" dirty="0"/>
              <a:t>,</a:t>
            </a:r>
          </a:p>
          <a:p>
            <a:r>
              <a:rPr lang="en-US" dirty="0"/>
              <a:t>                      </a:t>
            </a:r>
            <a:r>
              <a:rPr lang="en-US" dirty="0" err="1"/>
              <a:t>size_t</a:t>
            </a:r>
            <a:r>
              <a:rPr lang="en-US" dirty="0"/>
              <a:t> </a:t>
            </a:r>
            <a:r>
              <a:rPr lang="en-US" dirty="0" err="1"/>
              <a:t>msg_size</a:t>
            </a:r>
            <a:r>
              <a:rPr lang="en-US" dirty="0"/>
              <a:t>,</a:t>
            </a:r>
          </a:p>
          <a:p>
            <a:r>
              <a:rPr lang="en-US" dirty="0"/>
              <a:t>                      uint32_t </a:t>
            </a:r>
            <a:r>
              <a:rPr lang="en-US" dirty="0" err="1"/>
              <a:t>max_msgs</a:t>
            </a:r>
            <a:r>
              <a:rPr lang="en-US" dirty="0"/>
              <a:t>);</a:t>
            </a:r>
          </a:p>
          <a:p>
            <a:r>
              <a:rPr lang="en-US" dirty="0"/>
              <a:t>Allocates memory at runtime</a:t>
            </a:r>
          </a:p>
          <a:p>
            <a:endParaRPr lang="en-US" dirty="0"/>
          </a:p>
          <a:p>
            <a:r>
              <a:rPr lang="en-US" dirty="0"/>
              <a:t>Must use </a:t>
            </a:r>
            <a:r>
              <a:rPr lang="en-US" dirty="0" err="1"/>
              <a:t>k_msgq_cleanup</a:t>
            </a:r>
            <a:r>
              <a:rPr lang="en-US" dirty="0"/>
              <a:t>() to free</a:t>
            </a:r>
          </a:p>
          <a:p>
            <a:endParaRPr lang="en-US" dirty="0"/>
          </a:p>
          <a:p>
            <a:r>
              <a:rPr lang="en-US" b="1" u="sng" dirty="0"/>
              <a:t>Blocking and Timeouts</a:t>
            </a:r>
          </a:p>
          <a:p>
            <a:r>
              <a:rPr lang="en-US" dirty="0" err="1"/>
              <a:t>k_msgq_put</a:t>
            </a:r>
            <a:r>
              <a:rPr lang="en-US" dirty="0"/>
              <a:t>() and </a:t>
            </a:r>
            <a:r>
              <a:rPr lang="en-US" dirty="0" err="1"/>
              <a:t>k_msgq_get</a:t>
            </a:r>
            <a:r>
              <a:rPr lang="en-US" dirty="0"/>
              <a:t>() support: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K_NO_WAIT: Immediate return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K_FOREVER: Wait indefinitely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K_MSEC(x): Wait for timeout</a:t>
            </a:r>
          </a:p>
        </p:txBody>
      </p:sp>
    </p:spTree>
    <p:extLst>
      <p:ext uri="{BB962C8B-B14F-4D97-AF65-F5344CB8AC3E}">
        <p14:creationId xmlns:p14="http://schemas.microsoft.com/office/powerpoint/2010/main" val="30678064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FC072-9247-6651-4E82-EB921EFCA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F3E987-3CD0-7A90-621B-E10739B51412}"/>
              </a:ext>
            </a:extLst>
          </p:cNvPr>
          <p:cNvSpPr txBox="1"/>
          <p:nvPr/>
        </p:nvSpPr>
        <p:spPr>
          <a:xfrm>
            <a:off x="2933699" y="2664865"/>
            <a:ext cx="6096000" cy="107721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/>
              <a:t>Zephyr Kernel: Mailboxes (</a:t>
            </a:r>
            <a:r>
              <a:rPr lang="en-US" sz="3200" dirty="0" err="1"/>
              <a:t>k_mbox</a:t>
            </a:r>
            <a:r>
              <a:rPr lang="en-US" sz="3200" dirty="0"/>
              <a:t>)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813738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9F0DC-BDEF-79BE-4243-82B3990FD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2F2D74-C7A4-E04B-8F3A-A81C5514D0D4}"/>
              </a:ext>
            </a:extLst>
          </p:cNvPr>
          <p:cNvSpPr txBox="1"/>
          <p:nvPr/>
        </p:nvSpPr>
        <p:spPr>
          <a:xfrm>
            <a:off x="1892298" y="315365"/>
            <a:ext cx="8470901" cy="5847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/>
              <a:t>    Zephyr Kernel: Mailboxes (</a:t>
            </a:r>
            <a:r>
              <a:rPr lang="en-US" sz="3200" dirty="0" err="1"/>
              <a:t>k_mbox</a:t>
            </a:r>
            <a:r>
              <a:rPr lang="en-US" sz="3200" dirty="0"/>
              <a:t>)</a:t>
            </a:r>
            <a:endParaRPr lang="en-US" sz="320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E3D122-79BF-6E2B-C370-9FE5B82E92B5}"/>
              </a:ext>
            </a:extLst>
          </p:cNvPr>
          <p:cNvSpPr txBox="1"/>
          <p:nvPr/>
        </p:nvSpPr>
        <p:spPr>
          <a:xfrm>
            <a:off x="190500" y="1166853"/>
            <a:ext cx="6642100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 mailbox is a kernel object used for structured message passing.</a:t>
            </a:r>
          </a:p>
          <a:p>
            <a:endParaRPr lang="en-US" dirty="0"/>
          </a:p>
          <a:p>
            <a:r>
              <a:rPr lang="en-US" dirty="0"/>
              <a:t>Each message includes: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Metadata (</a:t>
            </a:r>
            <a:r>
              <a:rPr lang="en-US" dirty="0" err="1"/>
              <a:t>k_mbox_msg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Optional payload (data buffer)</a:t>
            </a:r>
          </a:p>
          <a:p>
            <a:endParaRPr lang="en-US" dirty="0"/>
          </a:p>
          <a:p>
            <a:r>
              <a:rPr lang="en-US" dirty="0"/>
              <a:t>Supports: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Copy and zero-copy data transfer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Blocking and non-blocking API calls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57E9C7-EA9D-A1D6-A92A-A385441692AD}"/>
              </a:ext>
            </a:extLst>
          </p:cNvPr>
          <p:cNvSpPr txBox="1"/>
          <p:nvPr/>
        </p:nvSpPr>
        <p:spPr>
          <a:xfrm>
            <a:off x="7010400" y="1191557"/>
            <a:ext cx="4991100" cy="28007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Enables safe thread-to-thread communication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Combines metadata and data in one message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Allows buffer management by kernel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Mailboxes provide flexible and structured IPC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Support both blocking and non-blocking modes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Provide sender identity and optional zero-copy mechanisms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Ideal for thread-based communication with full </a:t>
            </a:r>
            <a:r>
              <a:rPr lang="en-US" sz="1600" dirty="0" err="1"/>
              <a:t>metadata+payload</a:t>
            </a:r>
            <a:r>
              <a:rPr lang="en-US" sz="1600" dirty="0"/>
              <a:t> support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EEF3151-3A07-F1EC-D43C-2A79B4609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747515"/>
              </p:ext>
            </p:extLst>
          </p:nvPr>
        </p:nvGraphicFramePr>
        <p:xfrm>
          <a:off x="190500" y="4348075"/>
          <a:ext cx="9105900" cy="2194560"/>
        </p:xfrm>
        <a:graphic>
          <a:graphicData uri="http://schemas.openxmlformats.org/drawingml/2006/table">
            <a:tbl>
              <a:tblPr/>
              <a:tblGrid>
                <a:gridCol w="4470400">
                  <a:extLst>
                    <a:ext uri="{9D8B030D-6E8A-4147-A177-3AD203B41FA5}">
                      <a16:colId xmlns:a16="http://schemas.microsoft.com/office/drawing/2014/main" val="3400276934"/>
                    </a:ext>
                  </a:extLst>
                </a:gridCol>
                <a:gridCol w="4635500">
                  <a:extLst>
                    <a:ext uri="{9D8B030D-6E8A-4147-A177-3AD203B41FA5}">
                      <a16:colId xmlns:a16="http://schemas.microsoft.com/office/drawing/2014/main" val="252799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627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k_mbox_put()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Send message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110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k_mbox_get()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Receive message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016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k_mbox_data_get()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Copy payload into user buffer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935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k_mbox_data_block_get()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Allocate and copy to kernel block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161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k_mbox_data_block_put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Free the block after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527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5644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FEAF0-2AFB-3D9A-160C-DF4431B8A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A875E-5BB8-29D1-FA56-16FE9CCC8599}"/>
              </a:ext>
            </a:extLst>
          </p:cNvPr>
          <p:cNvSpPr txBox="1"/>
          <p:nvPr/>
        </p:nvSpPr>
        <p:spPr>
          <a:xfrm>
            <a:off x="1822449" y="205720"/>
            <a:ext cx="8286751" cy="5232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/>
              <a:t>Zephyr RTOS – Pipes (</a:t>
            </a:r>
            <a:r>
              <a:rPr lang="en-US" sz="2800" dirty="0" err="1"/>
              <a:t>k_pipe</a:t>
            </a:r>
            <a:r>
              <a:rPr lang="en-US" sz="2800" dirty="0"/>
              <a:t>) </a:t>
            </a:r>
            <a:endParaRPr lang="en-US" sz="28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FF60E5-6E30-37D0-5072-A274435BC6E8}"/>
              </a:ext>
            </a:extLst>
          </p:cNvPr>
          <p:cNvSpPr txBox="1"/>
          <p:nvPr/>
        </p:nvSpPr>
        <p:spPr>
          <a:xfrm>
            <a:off x="431801" y="1089898"/>
            <a:ext cx="75184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Pipes in Zephyr :: </a:t>
            </a:r>
            <a:r>
              <a:rPr lang="en-US" dirty="0" err="1"/>
              <a:t>k_pipe</a:t>
            </a:r>
            <a:r>
              <a:rPr lang="en-US" dirty="0"/>
              <a:t> is a kernel object used for byte-stream communication.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Allows unstructured data transfer between threads.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Supports blocking, non-blocking, and timed operations.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Good for partial I/O (e.g., streaming use-cases).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A0A1BF-69BF-9795-66F5-7E6AFB6DDBF7}"/>
              </a:ext>
            </a:extLst>
          </p:cNvPr>
          <p:cNvSpPr txBox="1"/>
          <p:nvPr/>
        </p:nvSpPr>
        <p:spPr>
          <a:xfrm>
            <a:off x="431800" y="3113614"/>
            <a:ext cx="60960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u="sng" dirty="0"/>
              <a:t>Static and Dynamic Pipe Initialization</a:t>
            </a:r>
          </a:p>
          <a:p>
            <a:r>
              <a:rPr lang="en-US" dirty="0"/>
              <a:t>Static:  K_PIPE_DEFINE(</a:t>
            </a:r>
            <a:r>
              <a:rPr lang="en-US" dirty="0" err="1"/>
              <a:t>my_pipe</a:t>
            </a:r>
            <a:r>
              <a:rPr lang="en-US" dirty="0"/>
              <a:t>, </a:t>
            </a:r>
            <a:r>
              <a:rPr lang="en-US" dirty="0" err="1"/>
              <a:t>buffer_area</a:t>
            </a:r>
            <a:r>
              <a:rPr lang="en-US" dirty="0"/>
              <a:t>, size);</a:t>
            </a:r>
          </a:p>
          <a:p>
            <a:endParaRPr lang="en-US" dirty="0"/>
          </a:p>
          <a:p>
            <a:r>
              <a:rPr lang="en-US" dirty="0"/>
              <a:t>Dynamic:</a:t>
            </a:r>
          </a:p>
          <a:p>
            <a:r>
              <a:rPr lang="en-US" dirty="0"/>
              <a:t>struct </a:t>
            </a:r>
            <a:r>
              <a:rPr lang="en-US" dirty="0" err="1"/>
              <a:t>k_pipe</a:t>
            </a:r>
            <a:r>
              <a:rPr lang="en-US" dirty="0"/>
              <a:t> </a:t>
            </a:r>
            <a:r>
              <a:rPr lang="en-US" dirty="0" err="1"/>
              <a:t>my_pipe</a:t>
            </a:r>
            <a:r>
              <a:rPr lang="en-US" dirty="0"/>
              <a:t>;</a:t>
            </a:r>
          </a:p>
          <a:p>
            <a:r>
              <a:rPr lang="en-US" dirty="0" err="1"/>
              <a:t>k_pipe_init</a:t>
            </a:r>
            <a:r>
              <a:rPr lang="en-US" dirty="0"/>
              <a:t>(&amp;</a:t>
            </a:r>
            <a:r>
              <a:rPr lang="en-US" dirty="0" err="1"/>
              <a:t>my_pipe</a:t>
            </a:r>
            <a:r>
              <a:rPr lang="en-US" dirty="0"/>
              <a:t>, buffer, size);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06692B-830C-D9D3-AAED-5BF8FD6D4C66}"/>
              </a:ext>
            </a:extLst>
          </p:cNvPr>
          <p:cNvSpPr txBox="1"/>
          <p:nvPr/>
        </p:nvSpPr>
        <p:spPr>
          <a:xfrm>
            <a:off x="6845300" y="3205182"/>
            <a:ext cx="5054600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u="sng" dirty="0"/>
              <a:t>Core API Functions</a:t>
            </a:r>
          </a:p>
          <a:p>
            <a:r>
              <a:rPr lang="en-US" dirty="0" err="1"/>
              <a:t>k_pipe_put</a:t>
            </a:r>
            <a:r>
              <a:rPr lang="en-US" dirty="0"/>
              <a:t>() – Write data to pipe</a:t>
            </a:r>
          </a:p>
          <a:p>
            <a:r>
              <a:rPr lang="en-US" dirty="0" err="1"/>
              <a:t>k_pipe_get</a:t>
            </a:r>
            <a:r>
              <a:rPr lang="en-US" dirty="0"/>
              <a:t>() – Read data from pipe</a:t>
            </a:r>
          </a:p>
          <a:p>
            <a:r>
              <a:rPr lang="en-US" dirty="0" err="1"/>
              <a:t>k_pipe_flush</a:t>
            </a:r>
            <a:r>
              <a:rPr lang="en-US" dirty="0"/>
              <a:t>() – Discard data in pipe</a:t>
            </a:r>
          </a:p>
          <a:p>
            <a:r>
              <a:rPr lang="en-US" dirty="0" err="1"/>
              <a:t>k_pipe_block_put</a:t>
            </a:r>
            <a:r>
              <a:rPr lang="en-US" dirty="0"/>
              <a:t>() – Write from a memory block (</a:t>
            </a:r>
            <a:r>
              <a:rPr lang="en-US" dirty="0" err="1"/>
              <a:t>k_mem_block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b="1" u="sng" dirty="0"/>
              <a:t>Each supports:</a:t>
            </a:r>
          </a:p>
          <a:p>
            <a:r>
              <a:rPr lang="en-US" dirty="0"/>
              <a:t>K_NO_WAIT</a:t>
            </a:r>
          </a:p>
          <a:p>
            <a:r>
              <a:rPr lang="en-US" dirty="0"/>
              <a:t>K_FOREVER</a:t>
            </a:r>
          </a:p>
          <a:p>
            <a:r>
              <a:rPr lang="en-US" dirty="0"/>
              <a:t>K_MSEC(timeout)</a:t>
            </a:r>
          </a:p>
        </p:txBody>
      </p:sp>
    </p:spTree>
    <p:extLst>
      <p:ext uri="{BB962C8B-B14F-4D97-AF65-F5344CB8AC3E}">
        <p14:creationId xmlns:p14="http://schemas.microsoft.com/office/powerpoint/2010/main" val="32780104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614B5-218A-B2E4-8BBD-F258E91FE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D34381-87B0-A14D-628D-7EEA9DD7527F}"/>
              </a:ext>
            </a:extLst>
          </p:cNvPr>
          <p:cNvSpPr txBox="1"/>
          <p:nvPr/>
        </p:nvSpPr>
        <p:spPr>
          <a:xfrm>
            <a:off x="2806699" y="328065"/>
            <a:ext cx="6096000" cy="5232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/>
              <a:t>Zephyr RTOS – Pipes (</a:t>
            </a:r>
            <a:r>
              <a:rPr lang="en-US" sz="2800" dirty="0" err="1"/>
              <a:t>k_pipe</a:t>
            </a:r>
            <a:r>
              <a:rPr lang="en-US" sz="2800" dirty="0"/>
              <a:t>) </a:t>
            </a:r>
            <a:endParaRPr lang="en-US" sz="2800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D65B85-3544-23C3-9F00-783BCB45B50C}"/>
              </a:ext>
            </a:extLst>
          </p:cNvPr>
          <p:cNvSpPr txBox="1"/>
          <p:nvPr/>
        </p:nvSpPr>
        <p:spPr>
          <a:xfrm>
            <a:off x="685799" y="1174623"/>
            <a:ext cx="9423401" cy="5355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dirty="0" err="1"/>
              <a:t>k_pipe_put</a:t>
            </a:r>
            <a:r>
              <a:rPr lang="en-US" dirty="0"/>
              <a:t>() Example</a:t>
            </a:r>
          </a:p>
          <a:p>
            <a:endParaRPr lang="en-US" dirty="0"/>
          </a:p>
          <a:p>
            <a:r>
              <a:rPr lang="en-US" dirty="0"/>
              <a:t>const char *msg = "Hello";</a:t>
            </a:r>
          </a:p>
          <a:p>
            <a:r>
              <a:rPr lang="en-US" dirty="0" err="1"/>
              <a:t>size_t</a:t>
            </a:r>
            <a:r>
              <a:rPr lang="en-US" dirty="0"/>
              <a:t> </a:t>
            </a:r>
            <a:r>
              <a:rPr lang="en-US" dirty="0" err="1"/>
              <a:t>bytes_written</a:t>
            </a:r>
            <a:r>
              <a:rPr lang="en-US" dirty="0"/>
              <a:t>;</a:t>
            </a:r>
          </a:p>
          <a:p>
            <a:r>
              <a:rPr lang="en-US" dirty="0" err="1"/>
              <a:t>k_pipe_put</a:t>
            </a:r>
            <a:r>
              <a:rPr lang="en-US" dirty="0"/>
              <a:t>(&amp;</a:t>
            </a:r>
            <a:r>
              <a:rPr lang="en-US" dirty="0" err="1"/>
              <a:t>my_pipe</a:t>
            </a:r>
            <a:r>
              <a:rPr lang="en-US" dirty="0"/>
              <a:t>, msg, </a:t>
            </a:r>
            <a:r>
              <a:rPr lang="en-US" dirty="0" err="1"/>
              <a:t>strlen</a:t>
            </a:r>
            <a:r>
              <a:rPr lang="en-US" dirty="0"/>
              <a:t>(msg), &amp;</a:t>
            </a:r>
            <a:r>
              <a:rPr lang="en-US" dirty="0" err="1"/>
              <a:t>bytes_written</a:t>
            </a:r>
            <a:r>
              <a:rPr lang="en-US" dirty="0"/>
              <a:t>, </a:t>
            </a:r>
            <a:r>
              <a:rPr lang="en-US" dirty="0" err="1"/>
              <a:t>strlen</a:t>
            </a:r>
            <a:r>
              <a:rPr lang="en-US" dirty="0"/>
              <a:t>(msg), K_FOREVER);</a:t>
            </a:r>
          </a:p>
          <a:p>
            <a:r>
              <a:rPr lang="en-US" dirty="0"/>
              <a:t>Writes bytes to pipe</a:t>
            </a:r>
          </a:p>
          <a:p>
            <a:endParaRPr lang="en-US" dirty="0"/>
          </a:p>
          <a:p>
            <a:r>
              <a:rPr lang="en-US" dirty="0"/>
              <a:t>May block depending on availability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k_pipe_get</a:t>
            </a:r>
            <a:r>
              <a:rPr lang="en-US" dirty="0"/>
              <a:t>() Example</a:t>
            </a:r>
          </a:p>
          <a:p>
            <a:endParaRPr lang="en-US" dirty="0"/>
          </a:p>
          <a:p>
            <a:r>
              <a:rPr lang="en-US" dirty="0"/>
              <a:t>char </a:t>
            </a:r>
            <a:r>
              <a:rPr lang="en-US" dirty="0" err="1"/>
              <a:t>buf</a:t>
            </a:r>
            <a:r>
              <a:rPr lang="en-US" dirty="0"/>
              <a:t>[16];</a:t>
            </a:r>
          </a:p>
          <a:p>
            <a:r>
              <a:rPr lang="en-US" dirty="0" err="1"/>
              <a:t>size_t</a:t>
            </a:r>
            <a:r>
              <a:rPr lang="en-US" dirty="0"/>
              <a:t> </a:t>
            </a:r>
            <a:r>
              <a:rPr lang="en-US" dirty="0" err="1"/>
              <a:t>bytes_read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 err="1"/>
              <a:t>k_pipe_get</a:t>
            </a:r>
            <a:r>
              <a:rPr lang="en-US" dirty="0"/>
              <a:t>(&amp;</a:t>
            </a:r>
            <a:r>
              <a:rPr lang="en-US" dirty="0" err="1"/>
              <a:t>my_pipe</a:t>
            </a:r>
            <a:r>
              <a:rPr lang="en-US" dirty="0"/>
              <a:t>, </a:t>
            </a:r>
            <a:r>
              <a:rPr lang="en-US" dirty="0" err="1"/>
              <a:t>buf</a:t>
            </a:r>
            <a:r>
              <a:rPr lang="en-US" dirty="0"/>
              <a:t>,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buf</a:t>
            </a:r>
            <a:r>
              <a:rPr lang="en-US" dirty="0"/>
              <a:t>), &amp;</a:t>
            </a:r>
            <a:r>
              <a:rPr lang="en-US" dirty="0" err="1"/>
              <a:t>bytes_read</a:t>
            </a:r>
            <a:r>
              <a:rPr lang="en-US" dirty="0"/>
              <a:t>,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buf</a:t>
            </a:r>
            <a:r>
              <a:rPr lang="en-US" dirty="0"/>
              <a:t>), K_FOREVER);</a:t>
            </a:r>
          </a:p>
          <a:p>
            <a:endParaRPr lang="en-US" dirty="0"/>
          </a:p>
          <a:p>
            <a:r>
              <a:rPr lang="en-US" dirty="0"/>
              <a:t>Reads bytes from pipe</a:t>
            </a:r>
          </a:p>
          <a:p>
            <a:endParaRPr lang="en-US" dirty="0"/>
          </a:p>
          <a:p>
            <a:r>
              <a:rPr lang="en-US" dirty="0"/>
              <a:t>Returns once at least some data is available (depending on timeout)</a:t>
            </a:r>
          </a:p>
        </p:txBody>
      </p:sp>
    </p:spTree>
    <p:extLst>
      <p:ext uri="{BB962C8B-B14F-4D97-AF65-F5344CB8AC3E}">
        <p14:creationId xmlns:p14="http://schemas.microsoft.com/office/powerpoint/2010/main" val="3141621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09341-F47C-00E7-2846-777E6DE2A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890959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14377</TotalTime>
  <Words>6791</Words>
  <Application>Microsoft Office PowerPoint</Application>
  <PresentationFormat>Widescreen</PresentationFormat>
  <Paragraphs>1025</Paragraphs>
  <Slides>63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2" baseType="lpstr">
      <vt:lpstr>Aptos</vt:lpstr>
      <vt:lpstr>Arial</vt:lpstr>
      <vt:lpstr>Bierstadt</vt:lpstr>
      <vt:lpstr>Cambria</vt:lpstr>
      <vt:lpstr>Canva Sans</vt:lpstr>
      <vt:lpstr>Courier New</vt:lpstr>
      <vt:lpstr>Segoe Sans</vt:lpstr>
      <vt:lpstr>Wingdings</vt:lpstr>
      <vt:lpstr>GestaltVTI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Ulla Shariff, Aleem</dc:creator>
  <cp:lastModifiedBy>nadeem shariff</cp:lastModifiedBy>
  <cp:revision>9</cp:revision>
  <dcterms:created xsi:type="dcterms:W3CDTF">2025-07-30T16:42:25Z</dcterms:created>
  <dcterms:modified xsi:type="dcterms:W3CDTF">2025-10-16T17:27:19Z</dcterms:modified>
</cp:coreProperties>
</file>